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6" d="100"/>
          <a:sy n="156" d="100"/>
        </p:scale>
        <p:origin x="1565" y="10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300" y="199895"/>
            <a:ext cx="82423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K</a:t>
            </a:r>
            <a:r>
              <a:rPr spc="80" dirty="0"/>
              <a:t> </a:t>
            </a:r>
            <a:r>
              <a:rPr spc="-10" dirty="0"/>
              <a:t>Mohammed</a:t>
            </a:r>
            <a:r>
              <a:rPr spc="85" dirty="0"/>
              <a:t> </a:t>
            </a:r>
            <a:r>
              <a:rPr spc="-25" dirty="0"/>
              <a:t>Hamza-</a:t>
            </a:r>
            <a:r>
              <a:rPr spc="-20" dirty="0"/>
              <a:t>RA2211004010570,</a:t>
            </a:r>
            <a:r>
              <a:rPr spc="85" dirty="0"/>
              <a:t> </a:t>
            </a:r>
            <a:r>
              <a:rPr spc="-25" dirty="0"/>
              <a:t>Di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May</a:t>
            </a:r>
            <a:r>
              <a:rPr spc="30" dirty="0"/>
              <a:t> </a:t>
            </a:r>
            <a:r>
              <a:rPr dirty="0"/>
              <a:t>7,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K</a:t>
            </a:r>
            <a:r>
              <a:rPr spc="80" dirty="0"/>
              <a:t> </a:t>
            </a:r>
            <a:r>
              <a:rPr spc="-10" dirty="0"/>
              <a:t>Mohammed</a:t>
            </a:r>
            <a:r>
              <a:rPr spc="85" dirty="0"/>
              <a:t> </a:t>
            </a:r>
            <a:r>
              <a:rPr spc="-25" dirty="0"/>
              <a:t>Hamza-</a:t>
            </a:r>
            <a:r>
              <a:rPr spc="-20" dirty="0"/>
              <a:t>RA2211004010570,</a:t>
            </a:r>
            <a:r>
              <a:rPr spc="85" dirty="0"/>
              <a:t> </a:t>
            </a:r>
            <a:r>
              <a:rPr spc="-25" dirty="0"/>
              <a:t>Di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May</a:t>
            </a:r>
            <a:r>
              <a:rPr spc="30" dirty="0"/>
              <a:t> </a:t>
            </a:r>
            <a:r>
              <a:rPr dirty="0"/>
              <a:t>7,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K</a:t>
            </a:r>
            <a:r>
              <a:rPr spc="80" dirty="0"/>
              <a:t> </a:t>
            </a:r>
            <a:r>
              <a:rPr spc="-10" dirty="0"/>
              <a:t>Mohammed</a:t>
            </a:r>
            <a:r>
              <a:rPr spc="85" dirty="0"/>
              <a:t> </a:t>
            </a:r>
            <a:r>
              <a:rPr spc="-25" dirty="0"/>
              <a:t>Hamza-</a:t>
            </a:r>
            <a:r>
              <a:rPr spc="-20" dirty="0"/>
              <a:t>RA2211004010570,</a:t>
            </a:r>
            <a:r>
              <a:rPr spc="85" dirty="0"/>
              <a:t> </a:t>
            </a:r>
            <a:r>
              <a:rPr spc="-25" dirty="0"/>
              <a:t>Di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May</a:t>
            </a:r>
            <a:r>
              <a:rPr spc="30" dirty="0"/>
              <a:t> </a:t>
            </a:r>
            <a:r>
              <a:rPr dirty="0"/>
              <a:t>7,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K</a:t>
            </a:r>
            <a:r>
              <a:rPr spc="80" dirty="0"/>
              <a:t> </a:t>
            </a:r>
            <a:r>
              <a:rPr spc="-10" dirty="0"/>
              <a:t>Mohammed</a:t>
            </a:r>
            <a:r>
              <a:rPr spc="85" dirty="0"/>
              <a:t> </a:t>
            </a:r>
            <a:r>
              <a:rPr spc="-25" dirty="0"/>
              <a:t>Hamza-</a:t>
            </a:r>
            <a:r>
              <a:rPr spc="-20" dirty="0"/>
              <a:t>RA2211004010570,</a:t>
            </a:r>
            <a:r>
              <a:rPr spc="85" dirty="0"/>
              <a:t> </a:t>
            </a:r>
            <a:r>
              <a:rPr spc="-25" dirty="0"/>
              <a:t>Di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May</a:t>
            </a:r>
            <a:r>
              <a:rPr spc="30" dirty="0"/>
              <a:t> </a:t>
            </a:r>
            <a:r>
              <a:rPr dirty="0"/>
              <a:t>7,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K</a:t>
            </a:r>
            <a:r>
              <a:rPr spc="80" dirty="0"/>
              <a:t> </a:t>
            </a:r>
            <a:r>
              <a:rPr spc="-10" dirty="0"/>
              <a:t>Mohammed</a:t>
            </a:r>
            <a:r>
              <a:rPr spc="85" dirty="0"/>
              <a:t> </a:t>
            </a:r>
            <a:r>
              <a:rPr spc="-25" dirty="0"/>
              <a:t>Hamza-</a:t>
            </a:r>
            <a:r>
              <a:rPr spc="-20" dirty="0"/>
              <a:t>RA2211004010570,</a:t>
            </a:r>
            <a:r>
              <a:rPr spc="85" dirty="0"/>
              <a:t> </a:t>
            </a:r>
            <a:r>
              <a:rPr spc="-25" dirty="0"/>
              <a:t>Di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May</a:t>
            </a:r>
            <a:r>
              <a:rPr spc="30" dirty="0"/>
              <a:t> </a:t>
            </a:r>
            <a:r>
              <a:rPr dirty="0"/>
              <a:t>7,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0" y="0"/>
            <a:ext cx="2304415" cy="140335"/>
          </a:xfrm>
          <a:custGeom>
            <a:avLst/>
            <a:gdLst/>
            <a:ahLst/>
            <a:cxnLst/>
            <a:rect l="l" t="t" r="r" b="b"/>
            <a:pathLst>
              <a:path w="2304415" h="140335">
                <a:moveTo>
                  <a:pt x="2303995" y="0"/>
                </a:moveTo>
                <a:lnTo>
                  <a:pt x="0" y="0"/>
                </a:lnTo>
                <a:lnTo>
                  <a:pt x="0" y="140017"/>
                </a:lnTo>
                <a:lnTo>
                  <a:pt x="2303995" y="140017"/>
                </a:lnTo>
                <a:lnTo>
                  <a:pt x="2303995" y="0"/>
                </a:lnTo>
                <a:close/>
              </a:path>
            </a:pathLst>
          </a:custGeom>
          <a:solidFill>
            <a:srgbClr val="4747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199895"/>
            <a:ext cx="376999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532" y="1286152"/>
            <a:ext cx="4097654" cy="866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-12700" y="3351784"/>
            <a:ext cx="154940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K</a:t>
            </a:r>
            <a:r>
              <a:rPr spc="80" dirty="0"/>
              <a:t> </a:t>
            </a:r>
            <a:r>
              <a:rPr spc="-10" dirty="0"/>
              <a:t>Mohammed</a:t>
            </a:r>
            <a:r>
              <a:rPr spc="85" dirty="0"/>
              <a:t> </a:t>
            </a:r>
            <a:r>
              <a:rPr spc="-25" dirty="0"/>
              <a:t>Hamza-</a:t>
            </a:r>
            <a:r>
              <a:rPr spc="-20" dirty="0"/>
              <a:t>RA2211004010570,</a:t>
            </a:r>
            <a:r>
              <a:rPr spc="85" dirty="0"/>
              <a:t> </a:t>
            </a:r>
            <a:r>
              <a:rPr spc="-25" dirty="0"/>
              <a:t>Di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502025" y="3351784"/>
            <a:ext cx="447675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May</a:t>
            </a:r>
            <a:r>
              <a:rPr spc="30" dirty="0"/>
              <a:t> </a:t>
            </a:r>
            <a:r>
              <a:rPr dirty="0"/>
              <a:t>7,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99198" y="3351784"/>
            <a:ext cx="254306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25" dirty="0"/>
              <a:t>14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slide" Target="slide9.xml"/><Relationship Id="rId18" Type="http://schemas.openxmlformats.org/officeDocument/2006/relationships/slide" Target="slide10.xml"/><Relationship Id="rId3" Type="http://schemas.openxmlformats.org/officeDocument/2006/relationships/image" Target="../media/image2.png"/><Relationship Id="rId21" Type="http://schemas.openxmlformats.org/officeDocument/2006/relationships/slide" Target="slide13.xml"/><Relationship Id="rId7" Type="http://schemas.openxmlformats.org/officeDocument/2006/relationships/image" Target="../media/image4.png"/><Relationship Id="rId12" Type="http://schemas.openxmlformats.org/officeDocument/2006/relationships/slide" Target="slide7.xml"/><Relationship Id="rId17" Type="http://schemas.openxmlformats.org/officeDocument/2006/relationships/image" Target="../media/image10.png"/><Relationship Id="rId2" Type="http://schemas.openxmlformats.org/officeDocument/2006/relationships/image" Target="../media/image1.png"/><Relationship Id="rId16" Type="http://schemas.openxmlformats.org/officeDocument/2006/relationships/image" Target="../media/image9.png"/><Relationship Id="rId20" Type="http://schemas.openxmlformats.org/officeDocument/2006/relationships/slide" Target="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slide" Target="slide6.xml"/><Relationship Id="rId5" Type="http://schemas.openxmlformats.org/officeDocument/2006/relationships/slide" Target="slide4.xml"/><Relationship Id="rId15" Type="http://schemas.openxmlformats.org/officeDocument/2006/relationships/image" Target="../media/image8.png"/><Relationship Id="rId10" Type="http://schemas.openxmlformats.org/officeDocument/2006/relationships/slide" Target="slide5.xml"/><Relationship Id="rId19" Type="http://schemas.openxmlformats.org/officeDocument/2006/relationships/slide" Target="slide11.xml"/><Relationship Id="rId4" Type="http://schemas.openxmlformats.org/officeDocument/2006/relationships/slide" Target="slide3.xml"/><Relationship Id="rId9" Type="http://schemas.openxmlformats.org/officeDocument/2006/relationships/image" Target="../media/image6.png"/><Relationship Id="rId14" Type="http://schemas.openxmlformats.org/officeDocument/2006/relationships/image" Target="../media/image7.png"/><Relationship Id="rId22" Type="http://schemas.openxmlformats.org/officeDocument/2006/relationships/slide" Target="slide1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slide" Target="slide14.xml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slide" Target="slide14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slide" Target="slide1.xml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" Target="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slide" Target="slide10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slide" Target="slide11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slide" Target="slide1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" Target="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03995" y="0"/>
            <a:ext cx="2304415" cy="140335"/>
          </a:xfrm>
          <a:custGeom>
            <a:avLst/>
            <a:gdLst/>
            <a:ahLst/>
            <a:cxnLst/>
            <a:rect l="l" t="t" r="r" b="b"/>
            <a:pathLst>
              <a:path w="2304415" h="140335">
                <a:moveTo>
                  <a:pt x="2303995" y="0"/>
                </a:moveTo>
                <a:lnTo>
                  <a:pt x="0" y="0"/>
                </a:lnTo>
                <a:lnTo>
                  <a:pt x="0" y="140017"/>
                </a:lnTo>
                <a:lnTo>
                  <a:pt x="2303995" y="140017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6562" y="675802"/>
            <a:ext cx="3935095" cy="68008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7465" marR="30480" algn="ctr">
              <a:lnSpc>
                <a:spcPct val="106700"/>
              </a:lnSpc>
              <a:spcBef>
                <a:spcPts val="20"/>
              </a:spcBef>
            </a:pPr>
            <a:r>
              <a:rPr spc="-25" dirty="0"/>
              <a:t>Fabrication </a:t>
            </a:r>
            <a:r>
              <a:rPr spc="-30" dirty="0"/>
              <a:t>and</a:t>
            </a:r>
            <a:r>
              <a:rPr spc="-25" dirty="0"/>
              <a:t> </a:t>
            </a:r>
            <a:r>
              <a:rPr spc="-20" dirty="0"/>
              <a:t>Simulation </a:t>
            </a:r>
            <a:r>
              <a:rPr dirty="0"/>
              <a:t>of</a:t>
            </a:r>
            <a:r>
              <a:rPr spc="-25" dirty="0"/>
              <a:t> </a:t>
            </a:r>
            <a:r>
              <a:rPr spc="60" dirty="0"/>
              <a:t>RRAM</a:t>
            </a:r>
            <a:r>
              <a:rPr spc="-20" dirty="0"/>
              <a:t> </a:t>
            </a:r>
            <a:r>
              <a:rPr spc="-40" dirty="0"/>
              <a:t>using</a:t>
            </a:r>
            <a:r>
              <a:rPr spc="-25" dirty="0"/>
              <a:t> </a:t>
            </a:r>
            <a:r>
              <a:rPr dirty="0"/>
              <a:t>HfO</a:t>
            </a:r>
            <a:r>
              <a:rPr sz="1500" baseline="-11111" dirty="0"/>
              <a:t>2</a:t>
            </a:r>
            <a:r>
              <a:rPr sz="1500" spc="217" baseline="-11111" dirty="0"/>
              <a:t> </a:t>
            </a:r>
            <a:r>
              <a:rPr sz="1400" spc="-25" dirty="0"/>
              <a:t>as </a:t>
            </a:r>
            <a:r>
              <a:rPr sz="1400" spc="-20" dirty="0"/>
              <a:t>Switching</a:t>
            </a:r>
            <a:r>
              <a:rPr sz="1400" spc="-30" dirty="0"/>
              <a:t> </a:t>
            </a:r>
            <a:r>
              <a:rPr sz="1400" spc="-10" dirty="0"/>
              <a:t>Layer</a:t>
            </a:r>
            <a:endParaRPr sz="1400"/>
          </a:p>
          <a:p>
            <a:pPr algn="ctr">
              <a:lnSpc>
                <a:spcPct val="100000"/>
              </a:lnSpc>
              <a:spcBef>
                <a:spcPts val="325"/>
              </a:spcBef>
            </a:pPr>
            <a:r>
              <a:rPr sz="1100" spc="-20" dirty="0"/>
              <a:t>21IPE337P </a:t>
            </a:r>
            <a:r>
              <a:rPr sz="1100" spc="-40" dirty="0"/>
              <a:t>Semiconductor</a:t>
            </a:r>
            <a:r>
              <a:rPr sz="1100" spc="-15" dirty="0"/>
              <a:t> </a:t>
            </a:r>
            <a:r>
              <a:rPr sz="1100" spc="-25" dirty="0"/>
              <a:t>Process</a:t>
            </a:r>
            <a:r>
              <a:rPr sz="1100" spc="-20" dirty="0"/>
              <a:t> </a:t>
            </a:r>
            <a:r>
              <a:rPr sz="1100" spc="-10" dirty="0"/>
              <a:t>Integration</a:t>
            </a:r>
            <a:endParaRPr sz="1100"/>
          </a:p>
        </p:txBody>
      </p:sp>
      <p:sp>
        <p:nvSpPr>
          <p:cNvPr id="4" name="object 4"/>
          <p:cNvSpPr txBox="1"/>
          <p:nvPr/>
        </p:nvSpPr>
        <p:spPr>
          <a:xfrm>
            <a:off x="886409" y="1640660"/>
            <a:ext cx="2837815" cy="11004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algn="ctr">
              <a:lnSpc>
                <a:spcPct val="102600"/>
              </a:lnSpc>
              <a:spcBef>
                <a:spcPts val="55"/>
              </a:spcBef>
            </a:pPr>
            <a:r>
              <a:rPr sz="1100" spc="100" dirty="0">
                <a:latin typeface="Tahoma"/>
                <a:cs typeface="Tahoma"/>
              </a:rPr>
              <a:t>K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Mohammed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Hamza-</a:t>
            </a:r>
            <a:r>
              <a:rPr sz="1100" spc="-40" dirty="0">
                <a:latin typeface="Tahoma"/>
                <a:cs typeface="Tahoma"/>
              </a:rPr>
              <a:t>RA2211004010570,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Disha </a:t>
            </a:r>
            <a:r>
              <a:rPr sz="1100" spc="-45" dirty="0">
                <a:latin typeface="Tahoma"/>
                <a:cs typeface="Tahoma"/>
              </a:rPr>
              <a:t>Rautela-</a:t>
            </a:r>
            <a:r>
              <a:rPr sz="1100" spc="-10" dirty="0">
                <a:latin typeface="Tahoma"/>
                <a:cs typeface="Tahoma"/>
              </a:rPr>
              <a:t>RA2211004010550</a:t>
            </a:r>
            <a:endParaRPr sz="1100">
              <a:latin typeface="Tahoma"/>
              <a:cs typeface="Tahoma"/>
            </a:endParaRPr>
          </a:p>
          <a:p>
            <a:pPr marL="81280" marR="75565" algn="ctr">
              <a:lnSpc>
                <a:spcPts val="950"/>
              </a:lnSpc>
              <a:spcBef>
                <a:spcPts val="1265"/>
              </a:spcBef>
            </a:pPr>
            <a:r>
              <a:rPr sz="800" dirty="0">
                <a:latin typeface="Arial MT"/>
                <a:cs typeface="Arial MT"/>
              </a:rPr>
              <a:t>Department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of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Electronics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Communication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Engineering </a:t>
            </a:r>
            <a:r>
              <a:rPr sz="800" dirty="0">
                <a:latin typeface="Arial MT"/>
                <a:cs typeface="Arial MT"/>
              </a:rPr>
              <a:t>SRM</a:t>
            </a:r>
            <a:r>
              <a:rPr sz="800" spc="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Institute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of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spc="-30" dirty="0">
                <a:latin typeface="Arial MT"/>
                <a:cs typeface="Arial MT"/>
              </a:rPr>
              <a:t>Science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Technology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8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100" dirty="0">
                <a:latin typeface="Tahoma"/>
                <a:cs typeface="Tahoma"/>
              </a:rPr>
              <a:t>May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7,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2025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523677" y="3364484"/>
            <a:ext cx="111760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spc="-55" dirty="0">
                <a:solidFill>
                  <a:srgbClr val="FFFFFF"/>
                </a:solidFill>
                <a:latin typeface="Arial MT"/>
                <a:cs typeface="Arial MT"/>
              </a:rPr>
              <a:t>sha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K</a:t>
            </a:r>
            <a:r>
              <a:rPr spc="80" dirty="0"/>
              <a:t> </a:t>
            </a:r>
            <a:r>
              <a:rPr spc="-10" dirty="0"/>
              <a:t>Mohammed</a:t>
            </a:r>
            <a:r>
              <a:rPr spc="85" dirty="0"/>
              <a:t> </a:t>
            </a:r>
            <a:r>
              <a:rPr spc="-25" dirty="0"/>
              <a:t>Hamza-</a:t>
            </a:r>
            <a:r>
              <a:rPr spc="-20" dirty="0"/>
              <a:t>RA2211004010570,</a:t>
            </a:r>
            <a:r>
              <a:rPr spc="85" dirty="0"/>
              <a:t> </a:t>
            </a:r>
            <a:r>
              <a:rPr spc="-25" dirty="0"/>
              <a:t>Di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972665" y="3351784"/>
            <a:ext cx="656590" cy="114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RRAM</a:t>
            </a:r>
            <a:r>
              <a:rPr sz="600" spc="35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using</a:t>
            </a:r>
            <a:r>
              <a:rPr sz="600" spc="35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HfO</a:t>
            </a:r>
            <a:r>
              <a:rPr sz="750" spc="-30" baseline="-11111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2</a:t>
            </a:r>
            <a:endParaRPr sz="750" baseline="-11111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May</a:t>
            </a:r>
            <a:r>
              <a:rPr spc="30" dirty="0"/>
              <a:t> </a:t>
            </a:r>
            <a:r>
              <a:rPr dirty="0"/>
              <a:t>7,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spc="-30" dirty="0"/>
              <a:t>1</a:t>
            </a:fld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608195" cy="490220"/>
            <a:chOff x="0" y="0"/>
            <a:chExt cx="4608195" cy="490220"/>
          </a:xfrm>
        </p:grpSpPr>
        <p:sp>
          <p:nvSpPr>
            <p:cNvPr id="3" name="object 3"/>
            <p:cNvSpPr/>
            <p:nvPr/>
          </p:nvSpPr>
          <p:spPr>
            <a:xfrm>
              <a:off x="2303995" y="0"/>
              <a:ext cx="2304415" cy="140335"/>
            </a:xfrm>
            <a:custGeom>
              <a:avLst/>
              <a:gdLst/>
              <a:ahLst/>
              <a:cxnLst/>
              <a:rect l="l" t="t" r="r" b="b"/>
              <a:pathLst>
                <a:path w="2304415" h="140335">
                  <a:moveTo>
                    <a:pt x="2303995" y="0"/>
                  </a:moveTo>
                  <a:lnTo>
                    <a:pt x="0" y="0"/>
                  </a:lnTo>
                  <a:lnTo>
                    <a:pt x="0" y="140017"/>
                  </a:lnTo>
                  <a:lnTo>
                    <a:pt x="2303995" y="140017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40017"/>
              <a:ext cx="4608195" cy="350520"/>
            </a:xfrm>
            <a:custGeom>
              <a:avLst/>
              <a:gdLst/>
              <a:ahLst/>
              <a:cxnLst/>
              <a:rect l="l" t="t" r="r" b="b"/>
              <a:pathLst>
                <a:path w="4608195" h="350520">
                  <a:moveTo>
                    <a:pt x="4608004" y="0"/>
                  </a:moveTo>
                  <a:lnTo>
                    <a:pt x="0" y="0"/>
                  </a:lnTo>
                  <a:lnTo>
                    <a:pt x="0" y="350126"/>
                  </a:lnTo>
                  <a:lnTo>
                    <a:pt x="4608004" y="35012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5300" y="199895"/>
            <a:ext cx="56769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Outline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670280"/>
            <a:ext cx="160096" cy="16009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280" y="925271"/>
            <a:ext cx="160096" cy="16009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9743" y="553451"/>
            <a:ext cx="1194435" cy="53594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79070" indent="-166370">
              <a:lnSpc>
                <a:spcPct val="100000"/>
              </a:lnSpc>
              <a:spcBef>
                <a:spcPts val="790"/>
              </a:spcBef>
              <a:buClr>
                <a:srgbClr val="EAEAF7"/>
              </a:buClr>
              <a:buSzPct val="72727"/>
              <a:buFont typeface="Arial MT"/>
              <a:buAutoNum type="arabicPlain"/>
              <a:tabLst>
                <a:tab pos="179070" algn="l"/>
              </a:tabLst>
            </a:pPr>
            <a:r>
              <a:rPr sz="1100" spc="-10" dirty="0">
                <a:latin typeface="Tahoma"/>
                <a:cs typeface="Tahoma"/>
                <a:hlinkClick r:id="rId4" action="ppaction://hlinksldjump"/>
              </a:rPr>
              <a:t>Introduction</a:t>
            </a:r>
            <a:endParaRPr sz="1100">
              <a:latin typeface="Tahoma"/>
              <a:cs typeface="Tahoma"/>
            </a:endParaRPr>
          </a:p>
          <a:p>
            <a:pPr marL="179070" indent="-166370">
              <a:lnSpc>
                <a:spcPct val="100000"/>
              </a:lnSpc>
              <a:spcBef>
                <a:spcPts val="685"/>
              </a:spcBef>
              <a:buClr>
                <a:srgbClr val="EAEAF7"/>
              </a:buClr>
              <a:buSzPct val="72727"/>
              <a:buFont typeface="Arial MT"/>
              <a:buAutoNum type="arabicPlain"/>
              <a:tabLst>
                <a:tab pos="179070" algn="l"/>
              </a:tabLst>
            </a:pPr>
            <a:r>
              <a:rPr sz="1100" spc="-10" dirty="0">
                <a:latin typeface="Tahoma"/>
                <a:cs typeface="Tahoma"/>
                <a:hlinkClick r:id="rId5" action="ppaction://hlinksldjump"/>
              </a:rPr>
              <a:t>Project</a:t>
            </a:r>
            <a:r>
              <a:rPr sz="1100" spc="-50" dirty="0">
                <a:latin typeface="Tahoma"/>
                <a:cs typeface="Tahoma"/>
                <a:hlinkClick r:id="rId5" action="ppaction://hlinksldjump"/>
              </a:rPr>
              <a:t> </a:t>
            </a:r>
            <a:r>
              <a:rPr sz="1100" spc="-30" dirty="0">
                <a:latin typeface="Tahoma"/>
                <a:cs typeface="Tahoma"/>
                <a:hlinkClick r:id="rId5" action="ppaction://hlinksldjump"/>
              </a:rPr>
              <a:t>Objective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9280" y="1180274"/>
            <a:ext cx="160096" cy="16009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9743" y="1179612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Arial MT"/>
                <a:cs typeface="Arial MT"/>
              </a:rPr>
              <a:t>3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280" y="1435277"/>
            <a:ext cx="160096" cy="160096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29743" y="1434616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Arial MT"/>
                <a:cs typeface="Arial MT"/>
              </a:rPr>
              <a:t>4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9280" y="1690281"/>
            <a:ext cx="160096" cy="160096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29743" y="1689619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Arial MT"/>
                <a:cs typeface="Arial MT"/>
              </a:rPr>
              <a:t>5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9280" y="1945271"/>
            <a:ext cx="160096" cy="160096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29743" y="1944610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Arial MT"/>
                <a:cs typeface="Arial MT"/>
              </a:rPr>
              <a:t>6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5173" y="1063432"/>
            <a:ext cx="1275080" cy="10458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2100"/>
              </a:lnSpc>
              <a:spcBef>
                <a:spcPts val="100"/>
              </a:spcBef>
            </a:pPr>
            <a:r>
              <a:rPr sz="1100" spc="-25" dirty="0">
                <a:latin typeface="Tahoma"/>
                <a:cs typeface="Tahoma"/>
                <a:hlinkClick r:id="rId10" action="ppaction://hlinksldjump"/>
              </a:rPr>
              <a:t>Fabrication</a:t>
            </a:r>
            <a:r>
              <a:rPr sz="1100" spc="-15" dirty="0">
                <a:latin typeface="Tahoma"/>
                <a:cs typeface="Tahoma"/>
                <a:hlinkClick r:id="rId10" action="ppaction://hlinksldjump"/>
              </a:rPr>
              <a:t> </a:t>
            </a:r>
            <a:r>
              <a:rPr sz="1100" spc="-40" dirty="0">
                <a:latin typeface="Tahoma"/>
                <a:cs typeface="Tahoma"/>
                <a:hlinkClick r:id="rId10" action="ppaction://hlinksldjump"/>
              </a:rPr>
              <a:t>Flowchart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  <a:hlinkClick r:id="rId11" action="ppaction://hlinksldjump"/>
              </a:rPr>
              <a:t>Project</a:t>
            </a:r>
            <a:r>
              <a:rPr sz="1100" spc="-50" dirty="0">
                <a:latin typeface="Tahoma"/>
                <a:cs typeface="Tahoma"/>
                <a:hlinkClick r:id="rId11" action="ppaction://hlinksldjump"/>
              </a:rPr>
              <a:t> </a:t>
            </a:r>
            <a:r>
              <a:rPr sz="1100" spc="-10" dirty="0">
                <a:latin typeface="Tahoma"/>
                <a:cs typeface="Tahoma"/>
                <a:hlinkClick r:id="rId11" action="ppaction://hlinksldjump"/>
              </a:rPr>
              <a:t>Specifics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  <a:hlinkClick r:id="rId12" action="ppaction://hlinksldjump"/>
              </a:rPr>
              <a:t>Fabrication</a:t>
            </a:r>
            <a:r>
              <a:rPr sz="1100" spc="-15" dirty="0">
                <a:latin typeface="Tahoma"/>
                <a:cs typeface="Tahoma"/>
                <a:hlinkClick r:id="rId12" action="ppaction://hlinksldjump"/>
              </a:rPr>
              <a:t> </a:t>
            </a:r>
            <a:r>
              <a:rPr sz="1100" spc="-10" dirty="0">
                <a:latin typeface="Tahoma"/>
                <a:cs typeface="Tahoma"/>
                <a:hlinkClick r:id="rId12" action="ppaction://hlinksldjump"/>
              </a:rPr>
              <a:t>Process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  <a:hlinkClick r:id="rId13" action="ppaction://hlinksldjump"/>
              </a:rPr>
              <a:t>Specifications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9280" y="2200275"/>
            <a:ext cx="160096" cy="160096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9280" y="2455278"/>
            <a:ext cx="160096" cy="160096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9280" y="2710269"/>
            <a:ext cx="160096" cy="160096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9280" y="2965272"/>
            <a:ext cx="160096" cy="160096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02857" y="2083432"/>
            <a:ext cx="1282700" cy="1045844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205740" indent="-166370">
              <a:lnSpc>
                <a:spcPct val="100000"/>
              </a:lnSpc>
              <a:spcBef>
                <a:spcPts val="790"/>
              </a:spcBef>
              <a:buClr>
                <a:srgbClr val="EAEAF7"/>
              </a:buClr>
              <a:buSzPct val="72727"/>
              <a:buFont typeface="Arial MT"/>
              <a:buAutoNum type="arabicPlain" startAt="7"/>
              <a:tabLst>
                <a:tab pos="205740" algn="l"/>
              </a:tabLst>
            </a:pPr>
            <a:r>
              <a:rPr sz="1100" spc="-10" dirty="0">
                <a:latin typeface="Tahoma"/>
                <a:cs typeface="Tahoma"/>
                <a:hlinkClick r:id="rId18" action="ppaction://hlinksldjump"/>
              </a:rPr>
              <a:t>Simulation</a:t>
            </a:r>
            <a:endParaRPr sz="1100">
              <a:latin typeface="Tahoma"/>
              <a:cs typeface="Tahoma"/>
            </a:endParaRPr>
          </a:p>
          <a:p>
            <a:pPr marL="205740" indent="-166370">
              <a:lnSpc>
                <a:spcPct val="100000"/>
              </a:lnSpc>
              <a:spcBef>
                <a:spcPts val="685"/>
              </a:spcBef>
              <a:buClr>
                <a:srgbClr val="EAEAF7"/>
              </a:buClr>
              <a:buSzPct val="72727"/>
              <a:buFont typeface="Arial MT"/>
              <a:buAutoNum type="arabicPlain" startAt="7"/>
              <a:tabLst>
                <a:tab pos="205740" algn="l"/>
              </a:tabLst>
            </a:pPr>
            <a:r>
              <a:rPr sz="1100" spc="-30" dirty="0">
                <a:latin typeface="Tahoma"/>
                <a:cs typeface="Tahoma"/>
                <a:hlinkClick r:id="rId19" action="ppaction://hlinksldjump"/>
              </a:rPr>
              <a:t>I-</a:t>
            </a:r>
            <a:r>
              <a:rPr sz="1100" dirty="0">
                <a:latin typeface="Tahoma"/>
                <a:cs typeface="Tahoma"/>
                <a:hlinkClick r:id="rId19" action="ppaction://hlinksldjump"/>
              </a:rPr>
              <a:t>V</a:t>
            </a:r>
            <a:r>
              <a:rPr sz="1100" spc="-10" dirty="0">
                <a:latin typeface="Tahoma"/>
                <a:cs typeface="Tahoma"/>
                <a:hlinkClick r:id="rId19" action="ppaction://hlinksldjump"/>
              </a:rPr>
              <a:t> </a:t>
            </a:r>
            <a:r>
              <a:rPr sz="1100" spc="-30" dirty="0">
                <a:latin typeface="Tahoma"/>
                <a:cs typeface="Tahoma"/>
                <a:hlinkClick r:id="rId19" action="ppaction://hlinksldjump"/>
              </a:rPr>
              <a:t>Characteristics</a:t>
            </a:r>
            <a:endParaRPr sz="1100">
              <a:latin typeface="Tahoma"/>
              <a:cs typeface="Tahoma"/>
            </a:endParaRPr>
          </a:p>
          <a:p>
            <a:pPr marL="205740" indent="-166370">
              <a:lnSpc>
                <a:spcPct val="100000"/>
              </a:lnSpc>
              <a:spcBef>
                <a:spcPts val="690"/>
              </a:spcBef>
              <a:buClr>
                <a:srgbClr val="EAEAF7"/>
              </a:buClr>
              <a:buSzPct val="72727"/>
              <a:buFont typeface="Arial MT"/>
              <a:buAutoNum type="arabicPlain" startAt="7"/>
              <a:tabLst>
                <a:tab pos="205740" algn="l"/>
              </a:tabLst>
            </a:pPr>
            <a:r>
              <a:rPr sz="1100" spc="-10" dirty="0">
                <a:latin typeface="Tahoma"/>
                <a:cs typeface="Tahoma"/>
                <a:hlinkClick r:id="rId20" action="ppaction://hlinksldjump"/>
              </a:rPr>
              <a:t>Observations</a:t>
            </a:r>
            <a:endParaRPr sz="1100">
              <a:latin typeface="Tahoma"/>
              <a:cs typeface="Tahoma"/>
            </a:endParaRPr>
          </a:p>
          <a:p>
            <a:pPr marL="205740" indent="-193040">
              <a:lnSpc>
                <a:spcPct val="100000"/>
              </a:lnSpc>
              <a:spcBef>
                <a:spcPts val="685"/>
              </a:spcBef>
              <a:buClr>
                <a:srgbClr val="EAEAF7"/>
              </a:buClr>
              <a:buSzPct val="72727"/>
              <a:buFont typeface="Arial MT"/>
              <a:buAutoNum type="arabicPlain" startAt="7"/>
              <a:tabLst>
                <a:tab pos="205740" algn="l"/>
              </a:tabLst>
            </a:pPr>
            <a:r>
              <a:rPr sz="1100" spc="-10" dirty="0">
                <a:latin typeface="Tahoma"/>
                <a:cs typeface="Tahoma"/>
                <a:hlinkClick r:id="rId21" action="ppaction://hlinksldjump"/>
              </a:rPr>
              <a:t>Conclusion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4" name="object 24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523677" y="3364484"/>
            <a:ext cx="111760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spc="-55" dirty="0">
                <a:solidFill>
                  <a:srgbClr val="FFFFFF"/>
                </a:solidFill>
                <a:latin typeface="Arial MT"/>
                <a:cs typeface="Arial MT"/>
              </a:rPr>
              <a:t>sha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K</a:t>
            </a:r>
            <a:r>
              <a:rPr spc="80" dirty="0"/>
              <a:t> </a:t>
            </a:r>
            <a:r>
              <a:rPr spc="-10" dirty="0"/>
              <a:t>Mohammed</a:t>
            </a:r>
            <a:r>
              <a:rPr spc="85" dirty="0"/>
              <a:t> </a:t>
            </a:r>
            <a:r>
              <a:rPr spc="-25" dirty="0"/>
              <a:t>Hamza-</a:t>
            </a:r>
            <a:r>
              <a:rPr spc="-20" dirty="0"/>
              <a:t>RA2211004010570,</a:t>
            </a:r>
            <a:r>
              <a:rPr spc="85" dirty="0"/>
              <a:t> </a:t>
            </a:r>
            <a:r>
              <a:rPr spc="-25" dirty="0"/>
              <a:t>Di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1972665" y="3351784"/>
            <a:ext cx="656590" cy="114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2" action="ppaction://hlinksldjump"/>
              </a:rPr>
              <a:t>RRAM</a:t>
            </a:r>
            <a:r>
              <a:rPr sz="600" spc="35" dirty="0">
                <a:solidFill>
                  <a:srgbClr val="FFFFFF"/>
                </a:solidFill>
                <a:latin typeface="Arial MT"/>
                <a:cs typeface="Arial MT"/>
                <a:hlinkClick r:id="rId2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2" action="ppaction://hlinksldjump"/>
              </a:rPr>
              <a:t>using</a:t>
            </a:r>
            <a:r>
              <a:rPr sz="600" spc="35" dirty="0">
                <a:solidFill>
                  <a:srgbClr val="FFFFFF"/>
                </a:solidFill>
                <a:latin typeface="Arial MT"/>
                <a:cs typeface="Arial MT"/>
                <a:hlinkClick r:id="rId22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Arial MT"/>
                <a:cs typeface="Arial MT"/>
                <a:hlinkClick r:id="rId22" action="ppaction://hlinksldjump"/>
              </a:rPr>
              <a:t>HfO</a:t>
            </a:r>
            <a:r>
              <a:rPr sz="750" spc="-30" baseline="-11111" dirty="0">
                <a:solidFill>
                  <a:srgbClr val="FFFFFF"/>
                </a:solidFill>
                <a:latin typeface="Arial MT"/>
                <a:cs typeface="Arial MT"/>
                <a:hlinkClick r:id="rId22" action="ppaction://hlinksldjump"/>
              </a:rPr>
              <a:t>2</a:t>
            </a:r>
            <a:endParaRPr sz="750" baseline="-11111">
              <a:latin typeface="Arial MT"/>
              <a:cs typeface="Arial MT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May</a:t>
            </a:r>
            <a:r>
              <a:rPr spc="30" dirty="0"/>
              <a:t> </a:t>
            </a:r>
            <a:r>
              <a:rPr dirty="0"/>
              <a:t>7,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spc="-30" dirty="0"/>
              <a:t>2</a:t>
            </a:fld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11020" y="792"/>
            <a:ext cx="43878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4608195" cy="490220"/>
            <a:chOff x="0" y="0"/>
            <a:chExt cx="4608195" cy="490220"/>
          </a:xfrm>
        </p:grpSpPr>
        <p:sp>
          <p:nvSpPr>
            <p:cNvPr id="4" name="object 4"/>
            <p:cNvSpPr/>
            <p:nvPr/>
          </p:nvSpPr>
          <p:spPr>
            <a:xfrm>
              <a:off x="2303995" y="0"/>
              <a:ext cx="2304415" cy="140335"/>
            </a:xfrm>
            <a:custGeom>
              <a:avLst/>
              <a:gdLst/>
              <a:ahLst/>
              <a:cxnLst/>
              <a:rect l="l" t="t" r="r" b="b"/>
              <a:pathLst>
                <a:path w="2304415" h="140335">
                  <a:moveTo>
                    <a:pt x="2303995" y="0"/>
                  </a:moveTo>
                  <a:lnTo>
                    <a:pt x="0" y="0"/>
                  </a:lnTo>
                  <a:lnTo>
                    <a:pt x="0" y="140017"/>
                  </a:lnTo>
                  <a:lnTo>
                    <a:pt x="2303995" y="140017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40017"/>
              <a:ext cx="4608195" cy="350520"/>
            </a:xfrm>
            <a:custGeom>
              <a:avLst/>
              <a:gdLst/>
              <a:ahLst/>
              <a:cxnLst/>
              <a:rect l="l" t="t" r="r" b="b"/>
              <a:pathLst>
                <a:path w="4608195" h="350520">
                  <a:moveTo>
                    <a:pt x="4608004" y="0"/>
                  </a:moveTo>
                  <a:lnTo>
                    <a:pt x="0" y="0"/>
                  </a:lnTo>
                  <a:lnTo>
                    <a:pt x="0" y="350126"/>
                  </a:lnTo>
                  <a:lnTo>
                    <a:pt x="4608004" y="35012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What</a:t>
            </a:r>
            <a:r>
              <a:rPr spc="-30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spc="40" dirty="0"/>
              <a:t>RRAM?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184554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566659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756448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865" y="1946249"/>
            <a:ext cx="52590" cy="5259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0865" y="2098090"/>
            <a:ext cx="52590" cy="5259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0865" y="2249919"/>
            <a:ext cx="52590" cy="5259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70865" y="2401747"/>
            <a:ext cx="52590" cy="5259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402932" y="1101101"/>
            <a:ext cx="4005579" cy="13938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35" dirty="0">
                <a:latin typeface="Tahoma"/>
                <a:cs typeface="Tahoma"/>
              </a:rPr>
              <a:t>Resistive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Random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Access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Memory</a:t>
            </a:r>
            <a:r>
              <a:rPr sz="1100" dirty="0">
                <a:latin typeface="Tahoma"/>
                <a:cs typeface="Tahoma"/>
              </a:rPr>
              <a:t> (RRAM)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non-</a:t>
            </a:r>
            <a:r>
              <a:rPr sz="1100" spc="-25" dirty="0">
                <a:latin typeface="Tahoma"/>
                <a:cs typeface="Tahoma"/>
              </a:rPr>
              <a:t>volatile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memory </a:t>
            </a:r>
            <a:r>
              <a:rPr sz="1100" spc="-10" dirty="0">
                <a:latin typeface="Tahoma"/>
                <a:cs typeface="Tahoma"/>
              </a:rPr>
              <a:t>technology.</a:t>
            </a:r>
            <a:endParaRPr sz="1100">
              <a:latin typeface="Tahoma"/>
              <a:cs typeface="Tahoma"/>
            </a:endParaRPr>
          </a:p>
          <a:p>
            <a:pPr marL="12700" marR="511809">
              <a:lnSpc>
                <a:spcPct val="113199"/>
              </a:lnSpc>
              <a:spcBef>
                <a:spcPts val="160"/>
              </a:spcBef>
            </a:pPr>
            <a:r>
              <a:rPr sz="1100" spc="-50" dirty="0">
                <a:latin typeface="Tahoma"/>
                <a:cs typeface="Tahoma"/>
              </a:rPr>
              <a:t>Uses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resistive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switching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phenomenon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store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information. </a:t>
            </a:r>
            <a:r>
              <a:rPr sz="1100" spc="-25" dirty="0">
                <a:latin typeface="Tahoma"/>
                <a:cs typeface="Tahoma"/>
              </a:rPr>
              <a:t>Promising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candidate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next-generation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memory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due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to:</a:t>
            </a:r>
            <a:endParaRPr sz="1100">
              <a:latin typeface="Tahoma"/>
              <a:cs typeface="Tahoma"/>
            </a:endParaRPr>
          </a:p>
          <a:p>
            <a:pPr marL="289560" marR="2428240">
              <a:lnSpc>
                <a:spcPct val="100000"/>
              </a:lnSpc>
              <a:spcBef>
                <a:spcPts val="175"/>
              </a:spcBef>
            </a:pPr>
            <a:r>
              <a:rPr sz="1000" spc="-10" dirty="0">
                <a:latin typeface="Tahoma"/>
                <a:cs typeface="Tahoma"/>
              </a:rPr>
              <a:t>Low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power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consumption </a:t>
            </a:r>
            <a:r>
              <a:rPr sz="1000" dirty="0">
                <a:latin typeface="Tahoma"/>
                <a:cs typeface="Tahoma"/>
              </a:rPr>
              <a:t>High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speed</a:t>
            </a:r>
            <a:endParaRPr sz="1000">
              <a:latin typeface="Tahoma"/>
              <a:cs typeface="Tahoma"/>
            </a:endParaRPr>
          </a:p>
          <a:p>
            <a:pPr marL="289560" marR="2632075">
              <a:lnSpc>
                <a:spcPts val="1200"/>
              </a:lnSpc>
              <a:spcBef>
                <a:spcPts val="30"/>
              </a:spcBef>
            </a:pPr>
            <a:r>
              <a:rPr sz="1000" dirty="0">
                <a:latin typeface="Tahoma"/>
                <a:cs typeface="Tahoma"/>
              </a:rPr>
              <a:t>CMOS</a:t>
            </a:r>
            <a:r>
              <a:rPr sz="1000" spc="14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compatibility </a:t>
            </a:r>
            <a:r>
              <a:rPr sz="1000" spc="-10" dirty="0">
                <a:latin typeface="Tahoma"/>
                <a:cs typeface="Tahoma"/>
              </a:rPr>
              <a:t>Scalability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6" name="object 16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523677" y="3364484"/>
            <a:ext cx="111760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spc="-55" dirty="0">
                <a:solidFill>
                  <a:srgbClr val="FFFFFF"/>
                </a:solidFill>
                <a:latin typeface="Arial MT"/>
                <a:cs typeface="Arial MT"/>
              </a:rPr>
              <a:t>sha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K</a:t>
            </a:r>
            <a:r>
              <a:rPr spc="80" dirty="0"/>
              <a:t> </a:t>
            </a:r>
            <a:r>
              <a:rPr spc="-10" dirty="0"/>
              <a:t>Mohammed</a:t>
            </a:r>
            <a:r>
              <a:rPr spc="85" dirty="0"/>
              <a:t> </a:t>
            </a:r>
            <a:r>
              <a:rPr spc="-25" dirty="0"/>
              <a:t>Hamza-</a:t>
            </a:r>
            <a:r>
              <a:rPr spc="-20" dirty="0"/>
              <a:t>RA2211004010570,</a:t>
            </a:r>
            <a:r>
              <a:rPr spc="85" dirty="0"/>
              <a:t> </a:t>
            </a:r>
            <a:r>
              <a:rPr spc="-25" dirty="0"/>
              <a:t>Di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972665" y="3351784"/>
            <a:ext cx="656590" cy="114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RRAM</a:t>
            </a:r>
            <a:r>
              <a:rPr sz="600" spc="35" dirty="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using</a:t>
            </a:r>
            <a:r>
              <a:rPr sz="600" spc="35" dirty="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HfO</a:t>
            </a:r>
            <a:r>
              <a:rPr sz="750" spc="-30" baseline="-11111" dirty="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2</a:t>
            </a:r>
            <a:endParaRPr sz="750" baseline="-11111">
              <a:latin typeface="Arial MT"/>
              <a:cs typeface="Arial MT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May</a:t>
            </a:r>
            <a:r>
              <a:rPr spc="30" dirty="0"/>
              <a:t> </a:t>
            </a:r>
            <a:r>
              <a:rPr dirty="0"/>
              <a:t>7,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spc="-30" dirty="0"/>
              <a:t>3</a:t>
            </a:fld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39417" y="792"/>
            <a:ext cx="61023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Project</a:t>
            </a:r>
            <a:r>
              <a:rPr sz="600" spc="6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Objective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4608195" cy="490220"/>
            <a:chOff x="0" y="0"/>
            <a:chExt cx="4608195" cy="490220"/>
          </a:xfrm>
        </p:grpSpPr>
        <p:sp>
          <p:nvSpPr>
            <p:cNvPr id="4" name="object 4"/>
            <p:cNvSpPr/>
            <p:nvPr/>
          </p:nvSpPr>
          <p:spPr>
            <a:xfrm>
              <a:off x="2303995" y="0"/>
              <a:ext cx="2304415" cy="140335"/>
            </a:xfrm>
            <a:custGeom>
              <a:avLst/>
              <a:gdLst/>
              <a:ahLst/>
              <a:cxnLst/>
              <a:rect l="l" t="t" r="r" b="b"/>
              <a:pathLst>
                <a:path w="2304415" h="140335">
                  <a:moveTo>
                    <a:pt x="2303995" y="0"/>
                  </a:moveTo>
                  <a:lnTo>
                    <a:pt x="0" y="0"/>
                  </a:lnTo>
                  <a:lnTo>
                    <a:pt x="0" y="140017"/>
                  </a:lnTo>
                  <a:lnTo>
                    <a:pt x="2303995" y="140017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40017"/>
              <a:ext cx="4608195" cy="350520"/>
            </a:xfrm>
            <a:custGeom>
              <a:avLst/>
              <a:gdLst/>
              <a:ahLst/>
              <a:cxnLst/>
              <a:rect l="l" t="t" r="r" b="b"/>
              <a:pathLst>
                <a:path w="4608195" h="350520">
                  <a:moveTo>
                    <a:pt x="4608004" y="0"/>
                  </a:moveTo>
                  <a:lnTo>
                    <a:pt x="0" y="0"/>
                  </a:lnTo>
                  <a:lnTo>
                    <a:pt x="0" y="350126"/>
                  </a:lnTo>
                  <a:lnTo>
                    <a:pt x="4608004" y="35012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Objective</a:t>
            </a:r>
            <a:r>
              <a:rPr spc="-70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spc="-10" dirty="0"/>
              <a:t>Project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44549"/>
            <a:ext cx="65265" cy="6526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77532" y="1261108"/>
            <a:ext cx="4049395" cy="9944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ahoma"/>
                <a:cs typeface="Tahoma"/>
              </a:rPr>
              <a:t>To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simulate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analyze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fabrication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RRAM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using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HfO</a:t>
            </a:r>
            <a:r>
              <a:rPr sz="1200" baseline="-10416" dirty="0">
                <a:latin typeface="Arial MT"/>
                <a:cs typeface="Arial MT"/>
              </a:rPr>
              <a:t>2</a:t>
            </a:r>
            <a:r>
              <a:rPr sz="1200" spc="240" baseline="-10416" dirty="0">
                <a:latin typeface="Arial MT"/>
                <a:cs typeface="Arial MT"/>
              </a:rPr>
              <a:t>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30" dirty="0">
                <a:latin typeface="Tahoma"/>
                <a:cs typeface="Tahoma"/>
              </a:rPr>
              <a:t>switching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layer.</a:t>
            </a:r>
            <a:endParaRPr sz="1100">
              <a:latin typeface="Tahoma"/>
              <a:cs typeface="Tahoma"/>
            </a:endParaRPr>
          </a:p>
          <a:p>
            <a:pPr marL="38100" marR="350520">
              <a:lnSpc>
                <a:spcPct val="125299"/>
              </a:lnSpc>
            </a:pPr>
            <a:r>
              <a:rPr sz="1100" spc="-20" dirty="0">
                <a:latin typeface="Tahoma"/>
                <a:cs typeface="Tahoma"/>
              </a:rPr>
              <a:t>Use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SEMulator3D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model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full</a:t>
            </a:r>
            <a:r>
              <a:rPr sz="1100" spc="-30" dirty="0">
                <a:latin typeface="Tahoma"/>
                <a:cs typeface="Tahoma"/>
              </a:rPr>
              <a:t> fabrication </a:t>
            </a:r>
            <a:r>
              <a:rPr sz="1100" spc="-60" dirty="0">
                <a:latin typeface="Tahoma"/>
                <a:cs typeface="Tahoma"/>
              </a:rPr>
              <a:t>process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flow. </a:t>
            </a:r>
            <a:r>
              <a:rPr sz="1100" spc="-20" dirty="0">
                <a:latin typeface="Tahoma"/>
                <a:cs typeface="Tahoma"/>
              </a:rPr>
              <a:t>Visualize </a:t>
            </a:r>
            <a:r>
              <a:rPr sz="1100" spc="-40" dirty="0">
                <a:latin typeface="Tahoma"/>
                <a:cs typeface="Tahoma"/>
              </a:rPr>
              <a:t>intermediate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steps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verify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proper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layer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integration. </a:t>
            </a:r>
            <a:r>
              <a:rPr sz="1100" spc="-20" dirty="0">
                <a:latin typeface="Tahoma"/>
                <a:cs typeface="Tahoma"/>
              </a:rPr>
              <a:t>Analyze </a:t>
            </a:r>
            <a:r>
              <a:rPr sz="1100" spc="-30" dirty="0">
                <a:latin typeface="Tahoma"/>
                <a:cs typeface="Tahoma"/>
              </a:rPr>
              <a:t>structure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layer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thickness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using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3D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modeling.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726666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936699"/>
            <a:ext cx="65265" cy="6526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146731"/>
            <a:ext cx="65265" cy="65265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3" name="object 13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523677" y="3364484"/>
            <a:ext cx="111760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spc="-55" dirty="0">
                <a:solidFill>
                  <a:srgbClr val="FFFFFF"/>
                </a:solidFill>
                <a:latin typeface="Arial MT"/>
                <a:cs typeface="Arial MT"/>
              </a:rPr>
              <a:t>sha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K</a:t>
            </a:r>
            <a:r>
              <a:rPr spc="80" dirty="0"/>
              <a:t> </a:t>
            </a:r>
            <a:r>
              <a:rPr spc="-10" dirty="0"/>
              <a:t>Mohammed</a:t>
            </a:r>
            <a:r>
              <a:rPr spc="85" dirty="0"/>
              <a:t> </a:t>
            </a:r>
            <a:r>
              <a:rPr spc="-25" dirty="0"/>
              <a:t>Hamza-</a:t>
            </a:r>
            <a:r>
              <a:rPr spc="-20" dirty="0"/>
              <a:t>RA2211004010570,</a:t>
            </a:r>
            <a:r>
              <a:rPr spc="85" dirty="0"/>
              <a:t> </a:t>
            </a:r>
            <a:r>
              <a:rPr spc="-25" dirty="0"/>
              <a:t>Di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972665" y="3351784"/>
            <a:ext cx="656590" cy="114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RRAM</a:t>
            </a:r>
            <a:r>
              <a:rPr sz="600" spc="35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using</a:t>
            </a:r>
            <a:r>
              <a:rPr sz="600" spc="35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HfO</a:t>
            </a:r>
            <a:r>
              <a:rPr sz="750" spc="-30" baseline="-11111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2</a:t>
            </a:r>
            <a:endParaRPr sz="750" baseline="-11111">
              <a:latin typeface="Arial MT"/>
              <a:cs typeface="Arial MT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May</a:t>
            </a:r>
            <a:r>
              <a:rPr spc="30" dirty="0"/>
              <a:t> </a:t>
            </a:r>
            <a:r>
              <a:rPr dirty="0"/>
              <a:t>7,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spc="-30" dirty="0"/>
              <a:t>4</a:t>
            </a:fld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2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96161" y="792"/>
            <a:ext cx="7531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Fabrication</a:t>
            </a:r>
            <a:r>
              <a:rPr sz="600" spc="-2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Flowchart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4608195" cy="490220"/>
            <a:chOff x="0" y="0"/>
            <a:chExt cx="4608195" cy="490220"/>
          </a:xfrm>
        </p:grpSpPr>
        <p:sp>
          <p:nvSpPr>
            <p:cNvPr id="4" name="object 4"/>
            <p:cNvSpPr/>
            <p:nvPr/>
          </p:nvSpPr>
          <p:spPr>
            <a:xfrm>
              <a:off x="2303995" y="0"/>
              <a:ext cx="2304415" cy="140335"/>
            </a:xfrm>
            <a:custGeom>
              <a:avLst/>
              <a:gdLst/>
              <a:ahLst/>
              <a:cxnLst/>
              <a:rect l="l" t="t" r="r" b="b"/>
              <a:pathLst>
                <a:path w="2304415" h="140335">
                  <a:moveTo>
                    <a:pt x="2303995" y="0"/>
                  </a:moveTo>
                  <a:lnTo>
                    <a:pt x="0" y="0"/>
                  </a:lnTo>
                  <a:lnTo>
                    <a:pt x="0" y="140017"/>
                  </a:lnTo>
                  <a:lnTo>
                    <a:pt x="2303995" y="140017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40017"/>
              <a:ext cx="4608195" cy="350520"/>
            </a:xfrm>
            <a:custGeom>
              <a:avLst/>
              <a:gdLst/>
              <a:ahLst/>
              <a:cxnLst/>
              <a:rect l="l" t="t" r="r" b="b"/>
              <a:pathLst>
                <a:path w="4608195" h="350520">
                  <a:moveTo>
                    <a:pt x="4608004" y="0"/>
                  </a:moveTo>
                  <a:lnTo>
                    <a:pt x="0" y="0"/>
                  </a:lnTo>
                  <a:lnTo>
                    <a:pt x="0" y="350126"/>
                  </a:lnTo>
                  <a:lnTo>
                    <a:pt x="4608004" y="35012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5" dirty="0"/>
              <a:t>Enhanced</a:t>
            </a:r>
            <a:r>
              <a:rPr spc="-25" dirty="0"/>
              <a:t> </a:t>
            </a:r>
            <a:r>
              <a:rPr spc="60" dirty="0"/>
              <a:t>RRAM</a:t>
            </a:r>
            <a:r>
              <a:rPr spc="-25" dirty="0"/>
              <a:t> Fabrication </a:t>
            </a:r>
            <a:r>
              <a:rPr spc="-30" dirty="0"/>
              <a:t>and</a:t>
            </a:r>
            <a:r>
              <a:rPr spc="-25" dirty="0"/>
              <a:t> </a:t>
            </a:r>
            <a:r>
              <a:rPr spc="-20" dirty="0"/>
              <a:t>Simulation Flow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1243971" y="497551"/>
            <a:ext cx="1391285" cy="716280"/>
            <a:chOff x="1251526" y="537418"/>
            <a:chExt cx="1391285" cy="716280"/>
          </a:xfrm>
        </p:grpSpPr>
        <p:sp>
          <p:nvSpPr>
            <p:cNvPr id="8" name="object 8"/>
            <p:cNvSpPr/>
            <p:nvPr/>
          </p:nvSpPr>
          <p:spPr>
            <a:xfrm>
              <a:off x="1436964" y="539323"/>
              <a:ext cx="1020444" cy="148590"/>
            </a:xfrm>
            <a:custGeom>
              <a:avLst/>
              <a:gdLst/>
              <a:ahLst/>
              <a:cxnLst/>
              <a:rect l="l" t="t" r="r" b="b"/>
              <a:pathLst>
                <a:path w="1020444" h="148590">
                  <a:moveTo>
                    <a:pt x="982199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110544"/>
                  </a:lnTo>
                  <a:lnTo>
                    <a:pt x="2982" y="125319"/>
                  </a:lnTo>
                  <a:lnTo>
                    <a:pt x="11117" y="137384"/>
                  </a:lnTo>
                  <a:lnTo>
                    <a:pt x="23183" y="145519"/>
                  </a:lnTo>
                  <a:lnTo>
                    <a:pt x="37958" y="148502"/>
                  </a:lnTo>
                  <a:lnTo>
                    <a:pt x="982199" y="148502"/>
                  </a:lnTo>
                  <a:lnTo>
                    <a:pt x="996974" y="145519"/>
                  </a:lnTo>
                  <a:lnTo>
                    <a:pt x="1009039" y="137384"/>
                  </a:lnTo>
                  <a:lnTo>
                    <a:pt x="1017174" y="125319"/>
                  </a:lnTo>
                  <a:lnTo>
                    <a:pt x="1020157" y="110544"/>
                  </a:lnTo>
                  <a:lnTo>
                    <a:pt x="1020157" y="37958"/>
                  </a:lnTo>
                  <a:lnTo>
                    <a:pt x="1017174" y="23183"/>
                  </a:lnTo>
                  <a:lnTo>
                    <a:pt x="1009039" y="11117"/>
                  </a:lnTo>
                  <a:lnTo>
                    <a:pt x="996974" y="2982"/>
                  </a:lnTo>
                  <a:lnTo>
                    <a:pt x="982199" y="0"/>
                  </a:lnTo>
                  <a:close/>
                </a:path>
              </a:pathLst>
            </a:custGeom>
            <a:solidFill>
              <a:srgbClr val="E5E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36964" y="539323"/>
              <a:ext cx="1020444" cy="148590"/>
            </a:xfrm>
            <a:custGeom>
              <a:avLst/>
              <a:gdLst/>
              <a:ahLst/>
              <a:cxnLst/>
              <a:rect l="l" t="t" r="r" b="b"/>
              <a:pathLst>
                <a:path w="1020444" h="148590">
                  <a:moveTo>
                    <a:pt x="982199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110544"/>
                  </a:lnTo>
                  <a:lnTo>
                    <a:pt x="2982" y="125319"/>
                  </a:lnTo>
                  <a:lnTo>
                    <a:pt x="11117" y="137384"/>
                  </a:lnTo>
                  <a:lnTo>
                    <a:pt x="23183" y="145519"/>
                  </a:lnTo>
                  <a:lnTo>
                    <a:pt x="37958" y="148502"/>
                  </a:lnTo>
                  <a:lnTo>
                    <a:pt x="982199" y="148502"/>
                  </a:lnTo>
                  <a:lnTo>
                    <a:pt x="996974" y="145519"/>
                  </a:lnTo>
                  <a:lnTo>
                    <a:pt x="1009039" y="137384"/>
                  </a:lnTo>
                  <a:lnTo>
                    <a:pt x="1017174" y="125319"/>
                  </a:lnTo>
                  <a:lnTo>
                    <a:pt x="1020157" y="110544"/>
                  </a:lnTo>
                  <a:lnTo>
                    <a:pt x="1020157" y="37958"/>
                  </a:lnTo>
                  <a:lnTo>
                    <a:pt x="1017174" y="23183"/>
                  </a:lnTo>
                  <a:lnTo>
                    <a:pt x="1009039" y="11117"/>
                  </a:lnTo>
                  <a:lnTo>
                    <a:pt x="996974" y="2982"/>
                  </a:lnTo>
                  <a:lnTo>
                    <a:pt x="982199" y="0"/>
                  </a:lnTo>
                  <a:close/>
                </a:path>
              </a:pathLst>
            </a:custGeom>
            <a:ln w="3795">
              <a:solidFill>
                <a:srgbClr val="4C4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53431" y="821222"/>
              <a:ext cx="1387475" cy="148590"/>
            </a:xfrm>
            <a:custGeom>
              <a:avLst/>
              <a:gdLst/>
              <a:ahLst/>
              <a:cxnLst/>
              <a:rect l="l" t="t" r="r" b="b"/>
              <a:pathLst>
                <a:path w="1387475" h="148590">
                  <a:moveTo>
                    <a:pt x="1349264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110544"/>
                  </a:lnTo>
                  <a:lnTo>
                    <a:pt x="2982" y="125319"/>
                  </a:lnTo>
                  <a:lnTo>
                    <a:pt x="11117" y="137384"/>
                  </a:lnTo>
                  <a:lnTo>
                    <a:pt x="23183" y="145519"/>
                  </a:lnTo>
                  <a:lnTo>
                    <a:pt x="37958" y="148502"/>
                  </a:lnTo>
                  <a:lnTo>
                    <a:pt x="1349264" y="148502"/>
                  </a:lnTo>
                  <a:lnTo>
                    <a:pt x="1364040" y="145519"/>
                  </a:lnTo>
                  <a:lnTo>
                    <a:pt x="1376105" y="137384"/>
                  </a:lnTo>
                  <a:lnTo>
                    <a:pt x="1384240" y="125319"/>
                  </a:lnTo>
                  <a:lnTo>
                    <a:pt x="1387223" y="110544"/>
                  </a:lnTo>
                  <a:lnTo>
                    <a:pt x="1387223" y="37958"/>
                  </a:lnTo>
                  <a:lnTo>
                    <a:pt x="1384240" y="23182"/>
                  </a:lnTo>
                  <a:lnTo>
                    <a:pt x="1376105" y="11117"/>
                  </a:lnTo>
                  <a:lnTo>
                    <a:pt x="1364040" y="2982"/>
                  </a:lnTo>
                  <a:lnTo>
                    <a:pt x="1349264" y="0"/>
                  </a:lnTo>
                  <a:close/>
                </a:path>
              </a:pathLst>
            </a:custGeom>
            <a:solidFill>
              <a:srgbClr val="E5E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53431" y="821222"/>
              <a:ext cx="1387475" cy="148590"/>
            </a:xfrm>
            <a:custGeom>
              <a:avLst/>
              <a:gdLst/>
              <a:ahLst/>
              <a:cxnLst/>
              <a:rect l="l" t="t" r="r" b="b"/>
              <a:pathLst>
                <a:path w="1387475" h="148590">
                  <a:moveTo>
                    <a:pt x="1349264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110544"/>
                  </a:lnTo>
                  <a:lnTo>
                    <a:pt x="2982" y="125319"/>
                  </a:lnTo>
                  <a:lnTo>
                    <a:pt x="11117" y="137384"/>
                  </a:lnTo>
                  <a:lnTo>
                    <a:pt x="23183" y="145519"/>
                  </a:lnTo>
                  <a:lnTo>
                    <a:pt x="37958" y="148502"/>
                  </a:lnTo>
                  <a:lnTo>
                    <a:pt x="1349264" y="148502"/>
                  </a:lnTo>
                  <a:lnTo>
                    <a:pt x="1364040" y="145519"/>
                  </a:lnTo>
                  <a:lnTo>
                    <a:pt x="1376105" y="137384"/>
                  </a:lnTo>
                  <a:lnTo>
                    <a:pt x="1384240" y="125319"/>
                  </a:lnTo>
                  <a:lnTo>
                    <a:pt x="1387223" y="110544"/>
                  </a:lnTo>
                  <a:lnTo>
                    <a:pt x="1387223" y="37958"/>
                  </a:lnTo>
                  <a:lnTo>
                    <a:pt x="1384240" y="23182"/>
                  </a:lnTo>
                  <a:lnTo>
                    <a:pt x="1376105" y="11117"/>
                  </a:lnTo>
                  <a:lnTo>
                    <a:pt x="1364040" y="2982"/>
                  </a:lnTo>
                  <a:lnTo>
                    <a:pt x="1349264" y="0"/>
                  </a:lnTo>
                  <a:close/>
                </a:path>
              </a:pathLst>
            </a:custGeom>
            <a:ln w="3795">
              <a:solidFill>
                <a:srgbClr val="4C4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375782" y="1103121"/>
              <a:ext cx="1143000" cy="148590"/>
            </a:xfrm>
            <a:custGeom>
              <a:avLst/>
              <a:gdLst/>
              <a:ahLst/>
              <a:cxnLst/>
              <a:rect l="l" t="t" r="r" b="b"/>
              <a:pathLst>
                <a:path w="1143000" h="148590">
                  <a:moveTo>
                    <a:pt x="1104563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110544"/>
                  </a:lnTo>
                  <a:lnTo>
                    <a:pt x="2982" y="125319"/>
                  </a:lnTo>
                  <a:lnTo>
                    <a:pt x="11117" y="137384"/>
                  </a:lnTo>
                  <a:lnTo>
                    <a:pt x="23182" y="145519"/>
                  </a:lnTo>
                  <a:lnTo>
                    <a:pt x="37958" y="148502"/>
                  </a:lnTo>
                  <a:lnTo>
                    <a:pt x="1104563" y="148502"/>
                  </a:lnTo>
                  <a:lnTo>
                    <a:pt x="1119338" y="145519"/>
                  </a:lnTo>
                  <a:lnTo>
                    <a:pt x="1131403" y="137384"/>
                  </a:lnTo>
                  <a:lnTo>
                    <a:pt x="1139538" y="125319"/>
                  </a:lnTo>
                  <a:lnTo>
                    <a:pt x="1142521" y="110544"/>
                  </a:lnTo>
                  <a:lnTo>
                    <a:pt x="1142521" y="37958"/>
                  </a:lnTo>
                  <a:lnTo>
                    <a:pt x="1139538" y="23183"/>
                  </a:lnTo>
                  <a:lnTo>
                    <a:pt x="1131403" y="11117"/>
                  </a:lnTo>
                  <a:lnTo>
                    <a:pt x="1119338" y="2982"/>
                  </a:lnTo>
                  <a:lnTo>
                    <a:pt x="1104563" y="0"/>
                  </a:lnTo>
                  <a:close/>
                </a:path>
              </a:pathLst>
            </a:custGeom>
            <a:solidFill>
              <a:srgbClr val="E5E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75782" y="1103121"/>
              <a:ext cx="1143000" cy="148590"/>
            </a:xfrm>
            <a:custGeom>
              <a:avLst/>
              <a:gdLst/>
              <a:ahLst/>
              <a:cxnLst/>
              <a:rect l="l" t="t" r="r" b="b"/>
              <a:pathLst>
                <a:path w="1143000" h="148590">
                  <a:moveTo>
                    <a:pt x="1104563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110544"/>
                  </a:lnTo>
                  <a:lnTo>
                    <a:pt x="2982" y="125319"/>
                  </a:lnTo>
                  <a:lnTo>
                    <a:pt x="11117" y="137384"/>
                  </a:lnTo>
                  <a:lnTo>
                    <a:pt x="23182" y="145519"/>
                  </a:lnTo>
                  <a:lnTo>
                    <a:pt x="37958" y="148502"/>
                  </a:lnTo>
                  <a:lnTo>
                    <a:pt x="1104563" y="148502"/>
                  </a:lnTo>
                  <a:lnTo>
                    <a:pt x="1119338" y="145519"/>
                  </a:lnTo>
                  <a:lnTo>
                    <a:pt x="1131403" y="137384"/>
                  </a:lnTo>
                  <a:lnTo>
                    <a:pt x="1139538" y="125319"/>
                  </a:lnTo>
                  <a:lnTo>
                    <a:pt x="1142521" y="110544"/>
                  </a:lnTo>
                  <a:lnTo>
                    <a:pt x="1142521" y="37958"/>
                  </a:lnTo>
                  <a:lnTo>
                    <a:pt x="1139538" y="23183"/>
                  </a:lnTo>
                  <a:lnTo>
                    <a:pt x="1131403" y="11117"/>
                  </a:lnTo>
                  <a:lnTo>
                    <a:pt x="1119338" y="2982"/>
                  </a:lnTo>
                  <a:lnTo>
                    <a:pt x="1104563" y="0"/>
                  </a:lnTo>
                  <a:close/>
                </a:path>
              </a:pathLst>
            </a:custGeom>
            <a:ln w="3795">
              <a:solidFill>
                <a:srgbClr val="4C4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75375" y="543943"/>
            <a:ext cx="134366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latin typeface="Arial MT"/>
                <a:cs typeface="Arial MT"/>
              </a:rPr>
              <a:t>Start:</a:t>
            </a:r>
            <a:r>
              <a:rPr sz="600" spc="114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Si</a:t>
            </a:r>
            <a:r>
              <a:rPr sz="600" spc="5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Substrate</a:t>
            </a:r>
            <a:r>
              <a:rPr sz="600" spc="5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Cleaning</a:t>
            </a:r>
            <a:endParaRPr sz="600">
              <a:latin typeface="Arial MT"/>
              <a:cs typeface="Arial MT"/>
            </a:endParaRPr>
          </a:p>
          <a:p>
            <a:pPr marL="12700" marR="5080" algn="ctr">
              <a:lnSpc>
                <a:spcPct val="308300"/>
              </a:lnSpc>
            </a:pPr>
            <a:r>
              <a:rPr sz="600" dirty="0">
                <a:latin typeface="Arial MT"/>
                <a:cs typeface="Arial MT"/>
              </a:rPr>
              <a:t>Deposit</a:t>
            </a:r>
            <a:r>
              <a:rPr sz="600" spc="8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Bottom</a:t>
            </a:r>
            <a:r>
              <a:rPr sz="600" spc="8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Electrode</a:t>
            </a:r>
            <a:r>
              <a:rPr sz="600" spc="8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(TiN,</a:t>
            </a:r>
            <a:r>
              <a:rPr sz="600" spc="85" dirty="0">
                <a:latin typeface="Arial MT"/>
                <a:cs typeface="Arial MT"/>
              </a:rPr>
              <a:t> </a:t>
            </a:r>
            <a:r>
              <a:rPr sz="600" spc="-20" dirty="0">
                <a:latin typeface="Arial MT"/>
                <a:cs typeface="Arial MT"/>
              </a:rPr>
              <a:t>PVD)</a:t>
            </a:r>
            <a:r>
              <a:rPr sz="600" spc="50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Pattern/Etch</a:t>
            </a:r>
            <a:r>
              <a:rPr sz="600" spc="19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Bottom</a:t>
            </a:r>
            <a:r>
              <a:rPr sz="600" spc="20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Electrode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557403" y="1383115"/>
            <a:ext cx="779780" cy="152400"/>
            <a:chOff x="1557403" y="1383115"/>
            <a:chExt cx="779780" cy="152400"/>
          </a:xfrm>
        </p:grpSpPr>
        <p:sp>
          <p:nvSpPr>
            <p:cNvPr id="16" name="object 16"/>
            <p:cNvSpPr/>
            <p:nvPr/>
          </p:nvSpPr>
          <p:spPr>
            <a:xfrm>
              <a:off x="1559308" y="1385020"/>
              <a:ext cx="775970" cy="148590"/>
            </a:xfrm>
            <a:custGeom>
              <a:avLst/>
              <a:gdLst/>
              <a:ahLst/>
              <a:cxnLst/>
              <a:rect l="l" t="t" r="r" b="b"/>
              <a:pathLst>
                <a:path w="775969" h="148590">
                  <a:moveTo>
                    <a:pt x="737510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110544"/>
                  </a:lnTo>
                  <a:lnTo>
                    <a:pt x="2982" y="125319"/>
                  </a:lnTo>
                  <a:lnTo>
                    <a:pt x="11117" y="137384"/>
                  </a:lnTo>
                  <a:lnTo>
                    <a:pt x="23183" y="145519"/>
                  </a:lnTo>
                  <a:lnTo>
                    <a:pt x="37958" y="148502"/>
                  </a:lnTo>
                  <a:lnTo>
                    <a:pt x="737510" y="148502"/>
                  </a:lnTo>
                  <a:lnTo>
                    <a:pt x="752285" y="145519"/>
                  </a:lnTo>
                  <a:lnTo>
                    <a:pt x="764351" y="137384"/>
                  </a:lnTo>
                  <a:lnTo>
                    <a:pt x="772486" y="125319"/>
                  </a:lnTo>
                  <a:lnTo>
                    <a:pt x="775468" y="110544"/>
                  </a:lnTo>
                  <a:lnTo>
                    <a:pt x="775468" y="37958"/>
                  </a:lnTo>
                  <a:lnTo>
                    <a:pt x="772486" y="23182"/>
                  </a:lnTo>
                  <a:lnTo>
                    <a:pt x="764351" y="11117"/>
                  </a:lnTo>
                  <a:lnTo>
                    <a:pt x="752285" y="2982"/>
                  </a:lnTo>
                  <a:lnTo>
                    <a:pt x="737510" y="0"/>
                  </a:lnTo>
                  <a:close/>
                </a:path>
              </a:pathLst>
            </a:custGeom>
            <a:solidFill>
              <a:srgbClr val="E5E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59308" y="1385020"/>
              <a:ext cx="775970" cy="148590"/>
            </a:xfrm>
            <a:custGeom>
              <a:avLst/>
              <a:gdLst/>
              <a:ahLst/>
              <a:cxnLst/>
              <a:rect l="l" t="t" r="r" b="b"/>
              <a:pathLst>
                <a:path w="775969" h="148590">
                  <a:moveTo>
                    <a:pt x="737510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110544"/>
                  </a:lnTo>
                  <a:lnTo>
                    <a:pt x="2982" y="125319"/>
                  </a:lnTo>
                  <a:lnTo>
                    <a:pt x="11117" y="137384"/>
                  </a:lnTo>
                  <a:lnTo>
                    <a:pt x="23183" y="145519"/>
                  </a:lnTo>
                  <a:lnTo>
                    <a:pt x="37958" y="148502"/>
                  </a:lnTo>
                  <a:lnTo>
                    <a:pt x="737510" y="148502"/>
                  </a:lnTo>
                  <a:lnTo>
                    <a:pt x="752285" y="145519"/>
                  </a:lnTo>
                  <a:lnTo>
                    <a:pt x="764351" y="137384"/>
                  </a:lnTo>
                  <a:lnTo>
                    <a:pt x="772486" y="125319"/>
                  </a:lnTo>
                  <a:lnTo>
                    <a:pt x="775468" y="110544"/>
                  </a:lnTo>
                  <a:lnTo>
                    <a:pt x="775468" y="37958"/>
                  </a:lnTo>
                  <a:lnTo>
                    <a:pt x="772486" y="23182"/>
                  </a:lnTo>
                  <a:lnTo>
                    <a:pt x="764351" y="11117"/>
                  </a:lnTo>
                  <a:lnTo>
                    <a:pt x="752285" y="2982"/>
                  </a:lnTo>
                  <a:lnTo>
                    <a:pt x="737510" y="0"/>
                  </a:lnTo>
                  <a:close/>
                </a:path>
              </a:pathLst>
            </a:custGeom>
            <a:ln w="3795">
              <a:solidFill>
                <a:srgbClr val="4C4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555851" y="1400840"/>
            <a:ext cx="7829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900" baseline="9259" dirty="0">
                <a:latin typeface="Arial MT"/>
                <a:cs typeface="Arial MT"/>
              </a:rPr>
              <a:t>Deposit</a:t>
            </a:r>
            <a:r>
              <a:rPr sz="900" spc="52" baseline="9259" dirty="0">
                <a:latin typeface="Arial MT"/>
                <a:cs typeface="Arial MT"/>
              </a:rPr>
              <a:t> </a:t>
            </a:r>
            <a:r>
              <a:rPr sz="900" baseline="9259" dirty="0">
                <a:latin typeface="Arial MT"/>
                <a:cs typeface="Arial MT"/>
              </a:rPr>
              <a:t>HfO</a:t>
            </a:r>
            <a:r>
              <a:rPr sz="450" dirty="0">
                <a:latin typeface="Arial MT"/>
                <a:cs typeface="Arial MT"/>
              </a:rPr>
              <a:t>2</a:t>
            </a:r>
            <a:r>
              <a:rPr sz="450" spc="114" dirty="0">
                <a:latin typeface="Arial MT"/>
                <a:cs typeface="Arial MT"/>
              </a:rPr>
              <a:t> </a:t>
            </a:r>
            <a:r>
              <a:rPr sz="900" spc="-15" baseline="9259" dirty="0">
                <a:latin typeface="Arial MT"/>
                <a:cs typeface="Arial MT"/>
              </a:rPr>
              <a:t>(ALD)</a:t>
            </a:r>
            <a:endParaRPr sz="900" baseline="9259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688459" y="1310092"/>
            <a:ext cx="624205" cy="298450"/>
            <a:chOff x="2688459" y="1310092"/>
            <a:chExt cx="624205" cy="298450"/>
          </a:xfrm>
        </p:grpSpPr>
        <p:sp>
          <p:nvSpPr>
            <p:cNvPr id="20" name="object 20"/>
            <p:cNvSpPr/>
            <p:nvPr/>
          </p:nvSpPr>
          <p:spPr>
            <a:xfrm>
              <a:off x="2690364" y="1311997"/>
              <a:ext cx="620395" cy="294640"/>
            </a:xfrm>
            <a:custGeom>
              <a:avLst/>
              <a:gdLst/>
              <a:ahLst/>
              <a:cxnLst/>
              <a:rect l="l" t="t" r="r" b="b"/>
              <a:pathLst>
                <a:path w="620395" h="294640">
                  <a:moveTo>
                    <a:pt x="310144" y="0"/>
                  </a:moveTo>
                  <a:lnTo>
                    <a:pt x="0" y="147273"/>
                  </a:lnTo>
                  <a:lnTo>
                    <a:pt x="310144" y="294547"/>
                  </a:lnTo>
                  <a:lnTo>
                    <a:pt x="620289" y="147273"/>
                  </a:lnTo>
                  <a:lnTo>
                    <a:pt x="310144" y="0"/>
                  </a:lnTo>
                  <a:close/>
                </a:path>
              </a:pathLst>
            </a:custGeom>
            <a:solidFill>
              <a:srgbClr val="FF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690364" y="1311997"/>
              <a:ext cx="620395" cy="294640"/>
            </a:xfrm>
            <a:custGeom>
              <a:avLst/>
              <a:gdLst/>
              <a:ahLst/>
              <a:cxnLst/>
              <a:rect l="l" t="t" r="r" b="b"/>
              <a:pathLst>
                <a:path w="620395" h="294640">
                  <a:moveTo>
                    <a:pt x="620289" y="147273"/>
                  </a:moveTo>
                  <a:lnTo>
                    <a:pt x="310144" y="0"/>
                  </a:lnTo>
                  <a:lnTo>
                    <a:pt x="0" y="147273"/>
                  </a:lnTo>
                  <a:lnTo>
                    <a:pt x="310144" y="294547"/>
                  </a:lnTo>
                  <a:lnTo>
                    <a:pt x="620289" y="147273"/>
                  </a:lnTo>
                  <a:close/>
                </a:path>
              </a:pathLst>
            </a:custGeom>
            <a:ln w="3795">
              <a:solidFill>
                <a:srgbClr val="FF4C4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732224" y="1397002"/>
            <a:ext cx="5365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Arial MT"/>
                <a:cs typeface="Arial MT"/>
              </a:rPr>
              <a:t>Thickness</a:t>
            </a:r>
            <a:r>
              <a:rPr sz="600" spc="-5" dirty="0">
                <a:latin typeface="Arial MT"/>
                <a:cs typeface="Arial MT"/>
              </a:rPr>
              <a:t> </a:t>
            </a:r>
            <a:r>
              <a:rPr sz="600" spc="-25" dirty="0">
                <a:latin typeface="Arial MT"/>
                <a:cs typeface="Arial MT"/>
              </a:rPr>
              <a:t>OK?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314725" y="1665013"/>
            <a:ext cx="2042160" cy="226695"/>
            <a:chOff x="1314725" y="1665013"/>
            <a:chExt cx="2042160" cy="226695"/>
          </a:xfrm>
        </p:grpSpPr>
        <p:sp>
          <p:nvSpPr>
            <p:cNvPr id="24" name="object 24"/>
            <p:cNvSpPr/>
            <p:nvPr/>
          </p:nvSpPr>
          <p:spPr>
            <a:xfrm>
              <a:off x="2646443" y="1740727"/>
              <a:ext cx="708660" cy="148590"/>
            </a:xfrm>
            <a:custGeom>
              <a:avLst/>
              <a:gdLst/>
              <a:ahLst/>
              <a:cxnLst/>
              <a:rect l="l" t="t" r="r" b="b"/>
              <a:pathLst>
                <a:path w="708660" h="148589">
                  <a:moveTo>
                    <a:pt x="670173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110544"/>
                  </a:lnTo>
                  <a:lnTo>
                    <a:pt x="2982" y="125319"/>
                  </a:lnTo>
                  <a:lnTo>
                    <a:pt x="11117" y="137384"/>
                  </a:lnTo>
                  <a:lnTo>
                    <a:pt x="23183" y="145519"/>
                  </a:lnTo>
                  <a:lnTo>
                    <a:pt x="37958" y="148502"/>
                  </a:lnTo>
                  <a:lnTo>
                    <a:pt x="670173" y="148502"/>
                  </a:lnTo>
                  <a:lnTo>
                    <a:pt x="684948" y="145519"/>
                  </a:lnTo>
                  <a:lnTo>
                    <a:pt x="697014" y="137384"/>
                  </a:lnTo>
                  <a:lnTo>
                    <a:pt x="705148" y="125319"/>
                  </a:lnTo>
                  <a:lnTo>
                    <a:pt x="708131" y="110544"/>
                  </a:lnTo>
                  <a:lnTo>
                    <a:pt x="708131" y="37958"/>
                  </a:lnTo>
                  <a:lnTo>
                    <a:pt x="705148" y="23182"/>
                  </a:lnTo>
                  <a:lnTo>
                    <a:pt x="697014" y="11117"/>
                  </a:lnTo>
                  <a:lnTo>
                    <a:pt x="684948" y="2982"/>
                  </a:lnTo>
                  <a:lnTo>
                    <a:pt x="670173" y="0"/>
                  </a:lnTo>
                  <a:close/>
                </a:path>
              </a:pathLst>
            </a:custGeom>
            <a:solidFill>
              <a:srgbClr val="E5E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646443" y="1740727"/>
              <a:ext cx="708660" cy="148590"/>
            </a:xfrm>
            <a:custGeom>
              <a:avLst/>
              <a:gdLst/>
              <a:ahLst/>
              <a:cxnLst/>
              <a:rect l="l" t="t" r="r" b="b"/>
              <a:pathLst>
                <a:path w="708660" h="148589">
                  <a:moveTo>
                    <a:pt x="670173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110544"/>
                  </a:lnTo>
                  <a:lnTo>
                    <a:pt x="2982" y="125319"/>
                  </a:lnTo>
                  <a:lnTo>
                    <a:pt x="11117" y="137384"/>
                  </a:lnTo>
                  <a:lnTo>
                    <a:pt x="23183" y="145519"/>
                  </a:lnTo>
                  <a:lnTo>
                    <a:pt x="37958" y="148502"/>
                  </a:lnTo>
                  <a:lnTo>
                    <a:pt x="670173" y="148502"/>
                  </a:lnTo>
                  <a:lnTo>
                    <a:pt x="684948" y="145519"/>
                  </a:lnTo>
                  <a:lnTo>
                    <a:pt x="697014" y="137384"/>
                  </a:lnTo>
                  <a:lnTo>
                    <a:pt x="705148" y="125319"/>
                  </a:lnTo>
                  <a:lnTo>
                    <a:pt x="708131" y="110544"/>
                  </a:lnTo>
                  <a:lnTo>
                    <a:pt x="708131" y="37958"/>
                  </a:lnTo>
                  <a:lnTo>
                    <a:pt x="705148" y="23182"/>
                  </a:lnTo>
                  <a:lnTo>
                    <a:pt x="697014" y="11117"/>
                  </a:lnTo>
                  <a:lnTo>
                    <a:pt x="684948" y="2982"/>
                  </a:lnTo>
                  <a:lnTo>
                    <a:pt x="670173" y="0"/>
                  </a:lnTo>
                  <a:close/>
                </a:path>
              </a:pathLst>
            </a:custGeom>
            <a:ln w="3795">
              <a:solidFill>
                <a:srgbClr val="4C4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316630" y="1666918"/>
              <a:ext cx="1261110" cy="148590"/>
            </a:xfrm>
            <a:custGeom>
              <a:avLst/>
              <a:gdLst/>
              <a:ahLst/>
              <a:cxnLst/>
              <a:rect l="l" t="t" r="r" b="b"/>
              <a:pathLst>
                <a:path w="1261110" h="148589">
                  <a:moveTo>
                    <a:pt x="1222868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110544"/>
                  </a:lnTo>
                  <a:lnTo>
                    <a:pt x="2982" y="125319"/>
                  </a:lnTo>
                  <a:lnTo>
                    <a:pt x="11117" y="137384"/>
                  </a:lnTo>
                  <a:lnTo>
                    <a:pt x="23182" y="145519"/>
                  </a:lnTo>
                  <a:lnTo>
                    <a:pt x="37958" y="148502"/>
                  </a:lnTo>
                  <a:lnTo>
                    <a:pt x="1222868" y="148502"/>
                  </a:lnTo>
                  <a:lnTo>
                    <a:pt x="1237643" y="145519"/>
                  </a:lnTo>
                  <a:lnTo>
                    <a:pt x="1249708" y="137384"/>
                  </a:lnTo>
                  <a:lnTo>
                    <a:pt x="1257843" y="125319"/>
                  </a:lnTo>
                  <a:lnTo>
                    <a:pt x="1260826" y="110544"/>
                  </a:lnTo>
                  <a:lnTo>
                    <a:pt x="1260826" y="37958"/>
                  </a:lnTo>
                  <a:lnTo>
                    <a:pt x="1257843" y="23183"/>
                  </a:lnTo>
                  <a:lnTo>
                    <a:pt x="1249708" y="11117"/>
                  </a:lnTo>
                  <a:lnTo>
                    <a:pt x="1237643" y="2982"/>
                  </a:lnTo>
                  <a:lnTo>
                    <a:pt x="1222868" y="0"/>
                  </a:lnTo>
                  <a:close/>
                </a:path>
              </a:pathLst>
            </a:custGeom>
            <a:solidFill>
              <a:srgbClr val="E5E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316630" y="1666918"/>
              <a:ext cx="1261110" cy="148590"/>
            </a:xfrm>
            <a:custGeom>
              <a:avLst/>
              <a:gdLst/>
              <a:ahLst/>
              <a:cxnLst/>
              <a:rect l="l" t="t" r="r" b="b"/>
              <a:pathLst>
                <a:path w="1261110" h="148589">
                  <a:moveTo>
                    <a:pt x="1222868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110544"/>
                  </a:lnTo>
                  <a:lnTo>
                    <a:pt x="2982" y="125319"/>
                  </a:lnTo>
                  <a:lnTo>
                    <a:pt x="11117" y="137384"/>
                  </a:lnTo>
                  <a:lnTo>
                    <a:pt x="23182" y="145519"/>
                  </a:lnTo>
                  <a:lnTo>
                    <a:pt x="37958" y="148502"/>
                  </a:lnTo>
                  <a:lnTo>
                    <a:pt x="1222868" y="148502"/>
                  </a:lnTo>
                  <a:lnTo>
                    <a:pt x="1237643" y="145519"/>
                  </a:lnTo>
                  <a:lnTo>
                    <a:pt x="1249708" y="137384"/>
                  </a:lnTo>
                  <a:lnTo>
                    <a:pt x="1257843" y="125319"/>
                  </a:lnTo>
                  <a:lnTo>
                    <a:pt x="1260826" y="110544"/>
                  </a:lnTo>
                  <a:lnTo>
                    <a:pt x="1260826" y="37958"/>
                  </a:lnTo>
                  <a:lnTo>
                    <a:pt x="1257843" y="23183"/>
                  </a:lnTo>
                  <a:lnTo>
                    <a:pt x="1249708" y="11117"/>
                  </a:lnTo>
                  <a:lnTo>
                    <a:pt x="1237643" y="2982"/>
                  </a:lnTo>
                  <a:lnTo>
                    <a:pt x="1222868" y="0"/>
                  </a:lnTo>
                  <a:close/>
                </a:path>
              </a:pathLst>
            </a:custGeom>
            <a:ln w="3795">
              <a:solidFill>
                <a:srgbClr val="4C4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338573" y="1671522"/>
            <a:ext cx="121729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latin typeface="Arial MT"/>
                <a:cs typeface="Arial MT"/>
              </a:rPr>
              <a:t>Deposit</a:t>
            </a:r>
            <a:r>
              <a:rPr sz="600" spc="5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Top</a:t>
            </a:r>
            <a:r>
              <a:rPr sz="600" spc="5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Electrode</a:t>
            </a:r>
            <a:r>
              <a:rPr sz="600" spc="5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(TiN,</a:t>
            </a:r>
            <a:r>
              <a:rPr sz="600" spc="50" dirty="0">
                <a:latin typeface="Arial MT"/>
                <a:cs typeface="Arial MT"/>
              </a:rPr>
              <a:t> </a:t>
            </a:r>
            <a:r>
              <a:rPr sz="600" spc="-20" dirty="0">
                <a:latin typeface="Arial MT"/>
                <a:cs typeface="Arial MT"/>
              </a:rPr>
              <a:t>PVD)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340518" y="1946912"/>
            <a:ext cx="1213485" cy="1280160"/>
            <a:chOff x="1340518" y="1946912"/>
            <a:chExt cx="1213485" cy="1280160"/>
          </a:xfrm>
        </p:grpSpPr>
        <p:sp>
          <p:nvSpPr>
            <p:cNvPr id="30" name="object 30"/>
            <p:cNvSpPr/>
            <p:nvPr/>
          </p:nvSpPr>
          <p:spPr>
            <a:xfrm>
              <a:off x="1438981" y="1948817"/>
              <a:ext cx="1016635" cy="148590"/>
            </a:xfrm>
            <a:custGeom>
              <a:avLst/>
              <a:gdLst/>
              <a:ahLst/>
              <a:cxnLst/>
              <a:rect l="l" t="t" r="r" b="b"/>
              <a:pathLst>
                <a:path w="1016635" h="148589">
                  <a:moveTo>
                    <a:pt x="97816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110544"/>
                  </a:lnTo>
                  <a:lnTo>
                    <a:pt x="2982" y="125319"/>
                  </a:lnTo>
                  <a:lnTo>
                    <a:pt x="11117" y="137385"/>
                  </a:lnTo>
                  <a:lnTo>
                    <a:pt x="23182" y="145519"/>
                  </a:lnTo>
                  <a:lnTo>
                    <a:pt x="37958" y="148502"/>
                  </a:lnTo>
                  <a:lnTo>
                    <a:pt x="978166" y="148502"/>
                  </a:lnTo>
                  <a:lnTo>
                    <a:pt x="992941" y="145519"/>
                  </a:lnTo>
                  <a:lnTo>
                    <a:pt x="1005006" y="137385"/>
                  </a:lnTo>
                  <a:lnTo>
                    <a:pt x="1013141" y="125319"/>
                  </a:lnTo>
                  <a:lnTo>
                    <a:pt x="1016124" y="110544"/>
                  </a:lnTo>
                  <a:lnTo>
                    <a:pt x="1016124" y="37958"/>
                  </a:lnTo>
                  <a:lnTo>
                    <a:pt x="1013141" y="23183"/>
                  </a:lnTo>
                  <a:lnTo>
                    <a:pt x="1005006" y="11117"/>
                  </a:lnTo>
                  <a:lnTo>
                    <a:pt x="992941" y="2982"/>
                  </a:lnTo>
                  <a:lnTo>
                    <a:pt x="978166" y="0"/>
                  </a:lnTo>
                  <a:close/>
                </a:path>
              </a:pathLst>
            </a:custGeom>
            <a:solidFill>
              <a:srgbClr val="E5E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438981" y="1948817"/>
              <a:ext cx="1016635" cy="148590"/>
            </a:xfrm>
            <a:custGeom>
              <a:avLst/>
              <a:gdLst/>
              <a:ahLst/>
              <a:cxnLst/>
              <a:rect l="l" t="t" r="r" b="b"/>
              <a:pathLst>
                <a:path w="1016635" h="148589">
                  <a:moveTo>
                    <a:pt x="978166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110544"/>
                  </a:lnTo>
                  <a:lnTo>
                    <a:pt x="2982" y="125319"/>
                  </a:lnTo>
                  <a:lnTo>
                    <a:pt x="11117" y="137385"/>
                  </a:lnTo>
                  <a:lnTo>
                    <a:pt x="23182" y="145519"/>
                  </a:lnTo>
                  <a:lnTo>
                    <a:pt x="37958" y="148502"/>
                  </a:lnTo>
                  <a:lnTo>
                    <a:pt x="978166" y="148502"/>
                  </a:lnTo>
                  <a:lnTo>
                    <a:pt x="992941" y="145519"/>
                  </a:lnTo>
                  <a:lnTo>
                    <a:pt x="1005006" y="137385"/>
                  </a:lnTo>
                  <a:lnTo>
                    <a:pt x="1013141" y="125319"/>
                  </a:lnTo>
                  <a:lnTo>
                    <a:pt x="1016124" y="110544"/>
                  </a:lnTo>
                  <a:lnTo>
                    <a:pt x="1016124" y="37958"/>
                  </a:lnTo>
                  <a:lnTo>
                    <a:pt x="1013141" y="23183"/>
                  </a:lnTo>
                  <a:lnTo>
                    <a:pt x="1005006" y="11117"/>
                  </a:lnTo>
                  <a:lnTo>
                    <a:pt x="992941" y="2982"/>
                  </a:lnTo>
                  <a:lnTo>
                    <a:pt x="978166" y="0"/>
                  </a:lnTo>
                  <a:close/>
                </a:path>
              </a:pathLst>
            </a:custGeom>
            <a:ln w="3795">
              <a:solidFill>
                <a:srgbClr val="4C4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342423" y="2230716"/>
              <a:ext cx="1209675" cy="148590"/>
            </a:xfrm>
            <a:custGeom>
              <a:avLst/>
              <a:gdLst/>
              <a:ahLst/>
              <a:cxnLst/>
              <a:rect l="l" t="t" r="r" b="b"/>
              <a:pathLst>
                <a:path w="1209675" h="148589">
                  <a:moveTo>
                    <a:pt x="1171280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110544"/>
                  </a:lnTo>
                  <a:lnTo>
                    <a:pt x="2982" y="125319"/>
                  </a:lnTo>
                  <a:lnTo>
                    <a:pt x="11117" y="137384"/>
                  </a:lnTo>
                  <a:lnTo>
                    <a:pt x="23183" y="145519"/>
                  </a:lnTo>
                  <a:lnTo>
                    <a:pt x="37958" y="148502"/>
                  </a:lnTo>
                  <a:lnTo>
                    <a:pt x="1171280" y="148502"/>
                  </a:lnTo>
                  <a:lnTo>
                    <a:pt x="1186055" y="145519"/>
                  </a:lnTo>
                  <a:lnTo>
                    <a:pt x="1198121" y="137384"/>
                  </a:lnTo>
                  <a:lnTo>
                    <a:pt x="1206256" y="125319"/>
                  </a:lnTo>
                  <a:lnTo>
                    <a:pt x="1209238" y="110544"/>
                  </a:lnTo>
                  <a:lnTo>
                    <a:pt x="1209238" y="37958"/>
                  </a:lnTo>
                  <a:lnTo>
                    <a:pt x="1206256" y="23182"/>
                  </a:lnTo>
                  <a:lnTo>
                    <a:pt x="1198121" y="11117"/>
                  </a:lnTo>
                  <a:lnTo>
                    <a:pt x="1186055" y="2982"/>
                  </a:lnTo>
                  <a:lnTo>
                    <a:pt x="1171280" y="0"/>
                  </a:lnTo>
                  <a:close/>
                </a:path>
              </a:pathLst>
            </a:custGeom>
            <a:solidFill>
              <a:srgbClr val="E5E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342423" y="2230716"/>
              <a:ext cx="1209675" cy="148590"/>
            </a:xfrm>
            <a:custGeom>
              <a:avLst/>
              <a:gdLst/>
              <a:ahLst/>
              <a:cxnLst/>
              <a:rect l="l" t="t" r="r" b="b"/>
              <a:pathLst>
                <a:path w="1209675" h="148589">
                  <a:moveTo>
                    <a:pt x="1171280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110544"/>
                  </a:lnTo>
                  <a:lnTo>
                    <a:pt x="2982" y="125319"/>
                  </a:lnTo>
                  <a:lnTo>
                    <a:pt x="11117" y="137384"/>
                  </a:lnTo>
                  <a:lnTo>
                    <a:pt x="23183" y="145519"/>
                  </a:lnTo>
                  <a:lnTo>
                    <a:pt x="37958" y="148502"/>
                  </a:lnTo>
                  <a:lnTo>
                    <a:pt x="1171280" y="148502"/>
                  </a:lnTo>
                  <a:lnTo>
                    <a:pt x="1186055" y="145519"/>
                  </a:lnTo>
                  <a:lnTo>
                    <a:pt x="1198121" y="137384"/>
                  </a:lnTo>
                  <a:lnTo>
                    <a:pt x="1206256" y="125319"/>
                  </a:lnTo>
                  <a:lnTo>
                    <a:pt x="1209238" y="110544"/>
                  </a:lnTo>
                  <a:lnTo>
                    <a:pt x="1209238" y="37958"/>
                  </a:lnTo>
                  <a:lnTo>
                    <a:pt x="1206256" y="23182"/>
                  </a:lnTo>
                  <a:lnTo>
                    <a:pt x="1198121" y="11117"/>
                  </a:lnTo>
                  <a:lnTo>
                    <a:pt x="1186055" y="2982"/>
                  </a:lnTo>
                  <a:lnTo>
                    <a:pt x="1171280" y="0"/>
                  </a:lnTo>
                  <a:close/>
                </a:path>
              </a:pathLst>
            </a:custGeom>
            <a:ln w="3795">
              <a:solidFill>
                <a:srgbClr val="4C4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361350" y="2512615"/>
              <a:ext cx="1171575" cy="148590"/>
            </a:xfrm>
            <a:custGeom>
              <a:avLst/>
              <a:gdLst/>
              <a:ahLst/>
              <a:cxnLst/>
              <a:rect l="l" t="t" r="r" b="b"/>
              <a:pathLst>
                <a:path w="1171575" h="148589">
                  <a:moveTo>
                    <a:pt x="1133427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110544"/>
                  </a:lnTo>
                  <a:lnTo>
                    <a:pt x="2982" y="125319"/>
                  </a:lnTo>
                  <a:lnTo>
                    <a:pt x="11117" y="137385"/>
                  </a:lnTo>
                  <a:lnTo>
                    <a:pt x="23183" y="145519"/>
                  </a:lnTo>
                  <a:lnTo>
                    <a:pt x="37958" y="148502"/>
                  </a:lnTo>
                  <a:lnTo>
                    <a:pt x="1133427" y="148502"/>
                  </a:lnTo>
                  <a:lnTo>
                    <a:pt x="1148202" y="145519"/>
                  </a:lnTo>
                  <a:lnTo>
                    <a:pt x="1160268" y="137385"/>
                  </a:lnTo>
                  <a:lnTo>
                    <a:pt x="1168402" y="125319"/>
                  </a:lnTo>
                  <a:lnTo>
                    <a:pt x="1171385" y="110544"/>
                  </a:lnTo>
                  <a:lnTo>
                    <a:pt x="1171385" y="37958"/>
                  </a:lnTo>
                  <a:lnTo>
                    <a:pt x="1168402" y="23183"/>
                  </a:lnTo>
                  <a:lnTo>
                    <a:pt x="1160268" y="11117"/>
                  </a:lnTo>
                  <a:lnTo>
                    <a:pt x="1148202" y="2982"/>
                  </a:lnTo>
                  <a:lnTo>
                    <a:pt x="1133427" y="0"/>
                  </a:lnTo>
                  <a:close/>
                </a:path>
              </a:pathLst>
            </a:custGeom>
            <a:solidFill>
              <a:srgbClr val="E5E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361350" y="2512614"/>
              <a:ext cx="1171575" cy="148590"/>
            </a:xfrm>
            <a:custGeom>
              <a:avLst/>
              <a:gdLst/>
              <a:ahLst/>
              <a:cxnLst/>
              <a:rect l="l" t="t" r="r" b="b"/>
              <a:pathLst>
                <a:path w="1171575" h="148589">
                  <a:moveTo>
                    <a:pt x="1133427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110544"/>
                  </a:lnTo>
                  <a:lnTo>
                    <a:pt x="2982" y="125319"/>
                  </a:lnTo>
                  <a:lnTo>
                    <a:pt x="11117" y="137385"/>
                  </a:lnTo>
                  <a:lnTo>
                    <a:pt x="23183" y="145519"/>
                  </a:lnTo>
                  <a:lnTo>
                    <a:pt x="37958" y="148502"/>
                  </a:lnTo>
                  <a:lnTo>
                    <a:pt x="1133427" y="148502"/>
                  </a:lnTo>
                  <a:lnTo>
                    <a:pt x="1148202" y="145519"/>
                  </a:lnTo>
                  <a:lnTo>
                    <a:pt x="1160268" y="137385"/>
                  </a:lnTo>
                  <a:lnTo>
                    <a:pt x="1168402" y="125319"/>
                  </a:lnTo>
                  <a:lnTo>
                    <a:pt x="1171385" y="110544"/>
                  </a:lnTo>
                  <a:lnTo>
                    <a:pt x="1171385" y="37958"/>
                  </a:lnTo>
                  <a:lnTo>
                    <a:pt x="1168402" y="23183"/>
                  </a:lnTo>
                  <a:lnTo>
                    <a:pt x="1160268" y="11117"/>
                  </a:lnTo>
                  <a:lnTo>
                    <a:pt x="1148202" y="2982"/>
                  </a:lnTo>
                  <a:lnTo>
                    <a:pt x="1133427" y="0"/>
                  </a:lnTo>
                  <a:close/>
                </a:path>
              </a:pathLst>
            </a:custGeom>
            <a:ln w="3795">
              <a:solidFill>
                <a:srgbClr val="4C4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419408" y="2794513"/>
              <a:ext cx="1055370" cy="148590"/>
            </a:xfrm>
            <a:custGeom>
              <a:avLst/>
              <a:gdLst/>
              <a:ahLst/>
              <a:cxnLst/>
              <a:rect l="l" t="t" r="r" b="b"/>
              <a:pathLst>
                <a:path w="1055370" h="148589">
                  <a:moveTo>
                    <a:pt x="1017310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110544"/>
                  </a:lnTo>
                  <a:lnTo>
                    <a:pt x="2982" y="125319"/>
                  </a:lnTo>
                  <a:lnTo>
                    <a:pt x="11117" y="137385"/>
                  </a:lnTo>
                  <a:lnTo>
                    <a:pt x="23183" y="145519"/>
                  </a:lnTo>
                  <a:lnTo>
                    <a:pt x="37958" y="148502"/>
                  </a:lnTo>
                  <a:lnTo>
                    <a:pt x="1017310" y="148502"/>
                  </a:lnTo>
                  <a:lnTo>
                    <a:pt x="1032086" y="145519"/>
                  </a:lnTo>
                  <a:lnTo>
                    <a:pt x="1044151" y="137385"/>
                  </a:lnTo>
                  <a:lnTo>
                    <a:pt x="1052286" y="125319"/>
                  </a:lnTo>
                  <a:lnTo>
                    <a:pt x="1055269" y="110544"/>
                  </a:lnTo>
                  <a:lnTo>
                    <a:pt x="1055269" y="37958"/>
                  </a:lnTo>
                  <a:lnTo>
                    <a:pt x="1052286" y="23183"/>
                  </a:lnTo>
                  <a:lnTo>
                    <a:pt x="1044151" y="11117"/>
                  </a:lnTo>
                  <a:lnTo>
                    <a:pt x="1032086" y="2982"/>
                  </a:lnTo>
                  <a:lnTo>
                    <a:pt x="1017310" y="0"/>
                  </a:lnTo>
                  <a:close/>
                </a:path>
              </a:pathLst>
            </a:custGeom>
            <a:solidFill>
              <a:srgbClr val="E5E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419408" y="2794513"/>
              <a:ext cx="1055370" cy="148590"/>
            </a:xfrm>
            <a:custGeom>
              <a:avLst/>
              <a:gdLst/>
              <a:ahLst/>
              <a:cxnLst/>
              <a:rect l="l" t="t" r="r" b="b"/>
              <a:pathLst>
                <a:path w="1055370" h="148589">
                  <a:moveTo>
                    <a:pt x="1017310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110544"/>
                  </a:lnTo>
                  <a:lnTo>
                    <a:pt x="2982" y="125319"/>
                  </a:lnTo>
                  <a:lnTo>
                    <a:pt x="11117" y="137385"/>
                  </a:lnTo>
                  <a:lnTo>
                    <a:pt x="23183" y="145519"/>
                  </a:lnTo>
                  <a:lnTo>
                    <a:pt x="37958" y="148502"/>
                  </a:lnTo>
                  <a:lnTo>
                    <a:pt x="1017310" y="148502"/>
                  </a:lnTo>
                  <a:lnTo>
                    <a:pt x="1032085" y="145519"/>
                  </a:lnTo>
                  <a:lnTo>
                    <a:pt x="1044151" y="137385"/>
                  </a:lnTo>
                  <a:lnTo>
                    <a:pt x="1052286" y="125319"/>
                  </a:lnTo>
                  <a:lnTo>
                    <a:pt x="1055269" y="110544"/>
                  </a:lnTo>
                  <a:lnTo>
                    <a:pt x="1055269" y="37958"/>
                  </a:lnTo>
                  <a:lnTo>
                    <a:pt x="1052286" y="23183"/>
                  </a:lnTo>
                  <a:lnTo>
                    <a:pt x="1044151" y="11117"/>
                  </a:lnTo>
                  <a:lnTo>
                    <a:pt x="1032085" y="2982"/>
                  </a:lnTo>
                  <a:lnTo>
                    <a:pt x="1017310" y="0"/>
                  </a:lnTo>
                  <a:close/>
                </a:path>
              </a:pathLst>
            </a:custGeom>
            <a:ln w="3795">
              <a:solidFill>
                <a:srgbClr val="4C4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471733" y="3076412"/>
              <a:ext cx="951230" cy="148590"/>
            </a:xfrm>
            <a:custGeom>
              <a:avLst/>
              <a:gdLst/>
              <a:ahLst/>
              <a:cxnLst/>
              <a:rect l="l" t="t" r="r" b="b"/>
              <a:pathLst>
                <a:path w="951230" h="148589">
                  <a:moveTo>
                    <a:pt x="912660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110544"/>
                  </a:lnTo>
                  <a:lnTo>
                    <a:pt x="2982" y="125319"/>
                  </a:lnTo>
                  <a:lnTo>
                    <a:pt x="11117" y="137384"/>
                  </a:lnTo>
                  <a:lnTo>
                    <a:pt x="23183" y="145519"/>
                  </a:lnTo>
                  <a:lnTo>
                    <a:pt x="37958" y="148502"/>
                  </a:lnTo>
                  <a:lnTo>
                    <a:pt x="912660" y="148502"/>
                  </a:lnTo>
                  <a:lnTo>
                    <a:pt x="927436" y="145519"/>
                  </a:lnTo>
                  <a:lnTo>
                    <a:pt x="939501" y="137384"/>
                  </a:lnTo>
                  <a:lnTo>
                    <a:pt x="947636" y="125319"/>
                  </a:lnTo>
                  <a:lnTo>
                    <a:pt x="950619" y="110544"/>
                  </a:lnTo>
                  <a:lnTo>
                    <a:pt x="950619" y="37958"/>
                  </a:lnTo>
                  <a:lnTo>
                    <a:pt x="947636" y="23182"/>
                  </a:lnTo>
                  <a:lnTo>
                    <a:pt x="939501" y="11117"/>
                  </a:lnTo>
                  <a:lnTo>
                    <a:pt x="927436" y="2982"/>
                  </a:lnTo>
                  <a:lnTo>
                    <a:pt x="912660" y="0"/>
                  </a:lnTo>
                  <a:close/>
                </a:path>
              </a:pathLst>
            </a:custGeom>
            <a:solidFill>
              <a:srgbClr val="E5E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471733" y="3076412"/>
              <a:ext cx="951230" cy="148590"/>
            </a:xfrm>
            <a:custGeom>
              <a:avLst/>
              <a:gdLst/>
              <a:ahLst/>
              <a:cxnLst/>
              <a:rect l="l" t="t" r="r" b="b"/>
              <a:pathLst>
                <a:path w="951230" h="148589">
                  <a:moveTo>
                    <a:pt x="912660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110544"/>
                  </a:lnTo>
                  <a:lnTo>
                    <a:pt x="2982" y="125319"/>
                  </a:lnTo>
                  <a:lnTo>
                    <a:pt x="11117" y="137384"/>
                  </a:lnTo>
                  <a:lnTo>
                    <a:pt x="23183" y="145519"/>
                  </a:lnTo>
                  <a:lnTo>
                    <a:pt x="37958" y="148502"/>
                  </a:lnTo>
                  <a:lnTo>
                    <a:pt x="912660" y="148502"/>
                  </a:lnTo>
                  <a:lnTo>
                    <a:pt x="927436" y="145519"/>
                  </a:lnTo>
                  <a:lnTo>
                    <a:pt x="939501" y="137384"/>
                  </a:lnTo>
                  <a:lnTo>
                    <a:pt x="947636" y="125319"/>
                  </a:lnTo>
                  <a:lnTo>
                    <a:pt x="950619" y="110544"/>
                  </a:lnTo>
                  <a:lnTo>
                    <a:pt x="950619" y="37958"/>
                  </a:lnTo>
                  <a:lnTo>
                    <a:pt x="947636" y="23182"/>
                  </a:lnTo>
                  <a:lnTo>
                    <a:pt x="939501" y="11117"/>
                  </a:lnTo>
                  <a:lnTo>
                    <a:pt x="927436" y="2982"/>
                  </a:lnTo>
                  <a:lnTo>
                    <a:pt x="912660" y="0"/>
                  </a:lnTo>
                  <a:close/>
                </a:path>
              </a:pathLst>
            </a:custGeom>
            <a:ln w="3795">
              <a:solidFill>
                <a:srgbClr val="4C4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364113" y="1982719"/>
            <a:ext cx="116586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latin typeface="Arial MT"/>
                <a:cs typeface="Arial MT"/>
              </a:rPr>
              <a:t>Pattern/Etch</a:t>
            </a:r>
            <a:r>
              <a:rPr sz="600" spc="13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Top</a:t>
            </a:r>
            <a:r>
              <a:rPr sz="600" spc="13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Electrode</a:t>
            </a:r>
            <a:endParaRPr sz="600" dirty="0">
              <a:latin typeface="Arial MT"/>
              <a:cs typeface="Arial MT"/>
            </a:endParaRPr>
          </a:p>
          <a:p>
            <a:pPr marL="12700" marR="5080" algn="ctr">
              <a:lnSpc>
                <a:spcPct val="308300"/>
              </a:lnSpc>
            </a:pPr>
            <a:r>
              <a:rPr sz="600" dirty="0">
                <a:latin typeface="Arial MT"/>
                <a:cs typeface="Arial MT"/>
              </a:rPr>
              <a:t>Deposit</a:t>
            </a:r>
            <a:r>
              <a:rPr sz="600" spc="-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Isolation</a:t>
            </a:r>
            <a:r>
              <a:rPr sz="600" spc="-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Oxide </a:t>
            </a:r>
            <a:r>
              <a:rPr sz="600" spc="-10" dirty="0">
                <a:latin typeface="Arial MT"/>
                <a:cs typeface="Arial MT"/>
              </a:rPr>
              <a:t>(PECVD)</a:t>
            </a:r>
            <a:r>
              <a:rPr sz="600" spc="50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Set</a:t>
            </a:r>
            <a:r>
              <a:rPr sz="600" spc="2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Up</a:t>
            </a:r>
            <a:r>
              <a:rPr sz="600" spc="2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SEMulator3D</a:t>
            </a:r>
            <a:r>
              <a:rPr sz="600" spc="2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Simulation</a:t>
            </a:r>
            <a:endParaRPr sz="600" dirty="0">
              <a:latin typeface="Arial MT"/>
              <a:cs typeface="Arial MT"/>
            </a:endParaRPr>
          </a:p>
          <a:p>
            <a:pPr marL="89535" marR="81915" algn="ctr">
              <a:lnSpc>
                <a:spcPct val="300200"/>
              </a:lnSpc>
              <a:spcBef>
                <a:spcPts val="114"/>
              </a:spcBef>
            </a:pPr>
            <a:r>
              <a:rPr sz="600" dirty="0">
                <a:latin typeface="Arial MT"/>
                <a:cs typeface="Arial MT"/>
              </a:rPr>
              <a:t>Run</a:t>
            </a:r>
            <a:r>
              <a:rPr sz="600" spc="3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3D</a:t>
            </a:r>
            <a:r>
              <a:rPr sz="600" spc="3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Structure</a:t>
            </a:r>
            <a:r>
              <a:rPr sz="600" spc="3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Simulation</a:t>
            </a:r>
            <a:r>
              <a:rPr sz="600" spc="50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Analyze</a:t>
            </a:r>
            <a:r>
              <a:rPr sz="600" spc="4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Structure</a:t>
            </a:r>
            <a:r>
              <a:rPr sz="600" spc="40" dirty="0">
                <a:latin typeface="Arial MT"/>
                <a:cs typeface="Arial MT"/>
              </a:rPr>
              <a:t> </a:t>
            </a:r>
            <a:r>
              <a:rPr sz="600" spc="80" dirty="0">
                <a:latin typeface="Arial MT"/>
                <a:cs typeface="Arial MT"/>
              </a:rPr>
              <a:t>&amp;</a:t>
            </a:r>
            <a:r>
              <a:rPr sz="600" spc="40" dirty="0">
                <a:latin typeface="Arial MT"/>
                <a:cs typeface="Arial MT"/>
              </a:rPr>
              <a:t> </a:t>
            </a:r>
            <a:r>
              <a:rPr sz="600" spc="-20" dirty="0">
                <a:latin typeface="Arial MT"/>
                <a:cs typeface="Arial MT"/>
              </a:rPr>
              <a:t>Data</a:t>
            </a:r>
            <a:endParaRPr sz="600" dirty="0">
              <a:latin typeface="Arial MT"/>
              <a:cs typeface="Arial MT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1749386" y="685914"/>
            <a:ext cx="1271270" cy="2772410"/>
            <a:chOff x="1749386" y="685914"/>
            <a:chExt cx="1271270" cy="2772410"/>
          </a:xfrm>
        </p:grpSpPr>
        <p:sp>
          <p:nvSpPr>
            <p:cNvPr id="42" name="object 42"/>
            <p:cNvSpPr/>
            <p:nvPr/>
          </p:nvSpPr>
          <p:spPr>
            <a:xfrm>
              <a:off x="1751291" y="3358311"/>
              <a:ext cx="391795" cy="97790"/>
            </a:xfrm>
            <a:custGeom>
              <a:avLst/>
              <a:gdLst/>
              <a:ahLst/>
              <a:cxnLst/>
              <a:rect l="l" t="t" r="r" b="b"/>
              <a:pathLst>
                <a:path w="391794" h="97789">
                  <a:moveTo>
                    <a:pt x="391503" y="97689"/>
                  </a:moveTo>
                  <a:lnTo>
                    <a:pt x="391503" y="37958"/>
                  </a:lnTo>
                  <a:lnTo>
                    <a:pt x="388521" y="23183"/>
                  </a:lnTo>
                  <a:lnTo>
                    <a:pt x="380386" y="11117"/>
                  </a:lnTo>
                  <a:lnTo>
                    <a:pt x="368320" y="2982"/>
                  </a:lnTo>
                  <a:lnTo>
                    <a:pt x="353545" y="0"/>
                  </a:ln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97689"/>
                  </a:lnTo>
                </a:path>
              </a:pathLst>
            </a:custGeom>
            <a:ln w="3795">
              <a:solidFill>
                <a:srgbClr val="4C4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947043" y="689724"/>
              <a:ext cx="0" cy="105410"/>
            </a:xfrm>
            <a:custGeom>
              <a:avLst/>
              <a:gdLst/>
              <a:ahLst/>
              <a:cxnLst/>
              <a:rect l="l" t="t" r="r" b="b"/>
              <a:pathLst>
                <a:path h="105409">
                  <a:moveTo>
                    <a:pt x="0" y="0"/>
                  </a:moveTo>
                  <a:lnTo>
                    <a:pt x="0" y="104928"/>
                  </a:lnTo>
                </a:path>
              </a:pathLst>
            </a:custGeom>
            <a:ln w="75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927305" y="779849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5">
                  <a:moveTo>
                    <a:pt x="39475" y="0"/>
                  </a:moveTo>
                  <a:lnTo>
                    <a:pt x="19737" y="14803"/>
                  </a:lnTo>
                  <a:lnTo>
                    <a:pt x="0" y="0"/>
                  </a:lnTo>
                  <a:lnTo>
                    <a:pt x="19737" y="39475"/>
                  </a:lnTo>
                  <a:lnTo>
                    <a:pt x="394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947043" y="971622"/>
              <a:ext cx="0" cy="105410"/>
            </a:xfrm>
            <a:custGeom>
              <a:avLst/>
              <a:gdLst/>
              <a:ahLst/>
              <a:cxnLst/>
              <a:rect l="l" t="t" r="r" b="b"/>
              <a:pathLst>
                <a:path h="105409">
                  <a:moveTo>
                    <a:pt x="0" y="0"/>
                  </a:moveTo>
                  <a:lnTo>
                    <a:pt x="0" y="104928"/>
                  </a:lnTo>
                </a:path>
              </a:pathLst>
            </a:custGeom>
            <a:ln w="75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927305" y="1061747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5">
                  <a:moveTo>
                    <a:pt x="39475" y="0"/>
                  </a:moveTo>
                  <a:lnTo>
                    <a:pt x="19737" y="14803"/>
                  </a:lnTo>
                  <a:lnTo>
                    <a:pt x="0" y="0"/>
                  </a:lnTo>
                  <a:lnTo>
                    <a:pt x="19737" y="39475"/>
                  </a:lnTo>
                  <a:lnTo>
                    <a:pt x="394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947043" y="1253521"/>
              <a:ext cx="0" cy="105410"/>
            </a:xfrm>
            <a:custGeom>
              <a:avLst/>
              <a:gdLst/>
              <a:ahLst/>
              <a:cxnLst/>
              <a:rect l="l" t="t" r="r" b="b"/>
              <a:pathLst>
                <a:path h="105409">
                  <a:moveTo>
                    <a:pt x="0" y="0"/>
                  </a:moveTo>
                  <a:lnTo>
                    <a:pt x="0" y="104928"/>
                  </a:lnTo>
                </a:path>
              </a:pathLst>
            </a:custGeom>
            <a:ln w="75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927305" y="1343646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5">
                  <a:moveTo>
                    <a:pt x="39475" y="0"/>
                  </a:moveTo>
                  <a:lnTo>
                    <a:pt x="19737" y="14803"/>
                  </a:lnTo>
                  <a:lnTo>
                    <a:pt x="0" y="0"/>
                  </a:lnTo>
                  <a:lnTo>
                    <a:pt x="19737" y="39475"/>
                  </a:lnTo>
                  <a:lnTo>
                    <a:pt x="394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336675" y="1459271"/>
              <a:ext cx="326390" cy="0"/>
            </a:xfrm>
            <a:custGeom>
              <a:avLst/>
              <a:gdLst/>
              <a:ahLst/>
              <a:cxnLst/>
              <a:rect l="l" t="t" r="r" b="b"/>
              <a:pathLst>
                <a:path w="326389">
                  <a:moveTo>
                    <a:pt x="0" y="0"/>
                  </a:moveTo>
                  <a:lnTo>
                    <a:pt x="326340" y="0"/>
                  </a:lnTo>
                </a:path>
              </a:pathLst>
            </a:custGeom>
            <a:ln w="75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648212" y="1439533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5">
                  <a:moveTo>
                    <a:pt x="0" y="0"/>
                  </a:moveTo>
                  <a:lnTo>
                    <a:pt x="14803" y="19737"/>
                  </a:lnTo>
                  <a:lnTo>
                    <a:pt x="0" y="39475"/>
                  </a:lnTo>
                  <a:lnTo>
                    <a:pt x="39475" y="197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000509" y="1609227"/>
              <a:ext cx="0" cy="105410"/>
            </a:xfrm>
            <a:custGeom>
              <a:avLst/>
              <a:gdLst/>
              <a:ahLst/>
              <a:cxnLst/>
              <a:rect l="l" t="t" r="r" b="b"/>
              <a:pathLst>
                <a:path h="105410">
                  <a:moveTo>
                    <a:pt x="0" y="0"/>
                  </a:moveTo>
                  <a:lnTo>
                    <a:pt x="0" y="104930"/>
                  </a:lnTo>
                </a:path>
              </a:pathLst>
            </a:custGeom>
            <a:ln w="75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980771" y="1699354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5">
                  <a:moveTo>
                    <a:pt x="39475" y="0"/>
                  </a:moveTo>
                  <a:lnTo>
                    <a:pt x="19737" y="14803"/>
                  </a:lnTo>
                  <a:lnTo>
                    <a:pt x="0" y="0"/>
                  </a:lnTo>
                  <a:lnTo>
                    <a:pt x="19737" y="39475"/>
                  </a:lnTo>
                  <a:lnTo>
                    <a:pt x="394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2668368" y="1569291"/>
            <a:ext cx="664845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57505">
              <a:lnSpc>
                <a:spcPct val="146100"/>
              </a:lnSpc>
              <a:spcBef>
                <a:spcPts val="100"/>
              </a:spcBef>
            </a:pPr>
            <a:r>
              <a:rPr sz="600" spc="-25" dirty="0">
                <a:latin typeface="Arial MT"/>
                <a:cs typeface="Arial MT"/>
              </a:rPr>
              <a:t>No</a:t>
            </a:r>
            <a:r>
              <a:rPr sz="600" spc="50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Adjust</a:t>
            </a:r>
            <a:r>
              <a:rPr sz="600" spc="8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ALD</a:t>
            </a:r>
            <a:r>
              <a:rPr sz="600" spc="85" dirty="0">
                <a:latin typeface="Arial MT"/>
                <a:cs typeface="Arial MT"/>
              </a:rPr>
              <a:t> </a:t>
            </a:r>
            <a:r>
              <a:rPr sz="600" spc="-35" dirty="0">
                <a:latin typeface="Arial MT"/>
                <a:cs typeface="Arial MT"/>
              </a:rPr>
              <a:t>Cycles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1927305" y="1529346"/>
            <a:ext cx="1077595" cy="213360"/>
            <a:chOff x="1927305" y="1529346"/>
            <a:chExt cx="1077595" cy="213360"/>
          </a:xfrm>
        </p:grpSpPr>
        <p:sp>
          <p:nvSpPr>
            <p:cNvPr id="55" name="object 55"/>
            <p:cNvSpPr/>
            <p:nvPr/>
          </p:nvSpPr>
          <p:spPr>
            <a:xfrm>
              <a:off x="2195894" y="1543311"/>
              <a:ext cx="579755" cy="195580"/>
            </a:xfrm>
            <a:custGeom>
              <a:avLst/>
              <a:gdLst/>
              <a:ahLst/>
              <a:cxnLst/>
              <a:rect l="l" t="t" r="r" b="b"/>
              <a:pathLst>
                <a:path w="579755" h="195580">
                  <a:moveTo>
                    <a:pt x="579140" y="195517"/>
                  </a:moveTo>
                  <a:lnTo>
                    <a:pt x="0" y="0"/>
                  </a:lnTo>
                </a:path>
              </a:pathLst>
            </a:custGeom>
            <a:ln w="75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172519" y="1529346"/>
              <a:ext cx="43815" cy="37465"/>
            </a:xfrm>
            <a:custGeom>
              <a:avLst/>
              <a:gdLst/>
              <a:ahLst/>
              <a:cxnLst/>
              <a:rect l="l" t="t" r="r" b="b"/>
              <a:pathLst>
                <a:path w="43814" h="37465">
                  <a:moveTo>
                    <a:pt x="31086" y="37399"/>
                  </a:moveTo>
                  <a:lnTo>
                    <a:pt x="23374" y="13965"/>
                  </a:lnTo>
                  <a:lnTo>
                    <a:pt x="43712" y="0"/>
                  </a:lnTo>
                  <a:lnTo>
                    <a:pt x="0" y="6074"/>
                  </a:lnTo>
                  <a:lnTo>
                    <a:pt x="31086" y="373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947043" y="1588871"/>
              <a:ext cx="1053465" cy="52069"/>
            </a:xfrm>
            <a:custGeom>
              <a:avLst/>
              <a:gdLst/>
              <a:ahLst/>
              <a:cxnLst/>
              <a:rect l="l" t="t" r="r" b="b"/>
              <a:pathLst>
                <a:path w="1053464" h="52069">
                  <a:moveTo>
                    <a:pt x="1053466" y="20363"/>
                  </a:moveTo>
                  <a:lnTo>
                    <a:pt x="1053466" y="0"/>
                  </a:lnTo>
                  <a:lnTo>
                    <a:pt x="0" y="0"/>
                  </a:lnTo>
                  <a:lnTo>
                    <a:pt x="0" y="51476"/>
                  </a:lnTo>
                </a:path>
              </a:pathLst>
            </a:custGeom>
            <a:ln w="75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927305" y="1625545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5">
                  <a:moveTo>
                    <a:pt x="39475" y="0"/>
                  </a:moveTo>
                  <a:lnTo>
                    <a:pt x="19737" y="14803"/>
                  </a:lnTo>
                  <a:lnTo>
                    <a:pt x="0" y="0"/>
                  </a:lnTo>
                  <a:lnTo>
                    <a:pt x="19737" y="39475"/>
                  </a:lnTo>
                  <a:lnTo>
                    <a:pt x="394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1939575" y="1612991"/>
            <a:ext cx="10572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600" spc="-25" dirty="0">
                <a:latin typeface="Arial MT"/>
                <a:cs typeface="Arial MT"/>
              </a:rPr>
              <a:t>Yes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0" y="1813509"/>
            <a:ext cx="1967230" cy="1642745"/>
            <a:chOff x="0" y="1813509"/>
            <a:chExt cx="1967230" cy="1642745"/>
          </a:xfrm>
        </p:grpSpPr>
        <p:sp>
          <p:nvSpPr>
            <p:cNvPr id="61" name="object 61"/>
            <p:cNvSpPr/>
            <p:nvPr/>
          </p:nvSpPr>
          <p:spPr>
            <a:xfrm>
              <a:off x="1947043" y="1817319"/>
              <a:ext cx="0" cy="105410"/>
            </a:xfrm>
            <a:custGeom>
              <a:avLst/>
              <a:gdLst/>
              <a:ahLst/>
              <a:cxnLst/>
              <a:rect l="l" t="t" r="r" b="b"/>
              <a:pathLst>
                <a:path h="105410">
                  <a:moveTo>
                    <a:pt x="0" y="0"/>
                  </a:moveTo>
                  <a:lnTo>
                    <a:pt x="0" y="104928"/>
                  </a:lnTo>
                </a:path>
              </a:pathLst>
            </a:custGeom>
            <a:ln w="75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927305" y="1907443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5">
                  <a:moveTo>
                    <a:pt x="39475" y="0"/>
                  </a:moveTo>
                  <a:lnTo>
                    <a:pt x="19737" y="14803"/>
                  </a:lnTo>
                  <a:lnTo>
                    <a:pt x="0" y="0"/>
                  </a:lnTo>
                  <a:lnTo>
                    <a:pt x="19737" y="39475"/>
                  </a:lnTo>
                  <a:lnTo>
                    <a:pt x="394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947043" y="2099217"/>
              <a:ext cx="0" cy="105410"/>
            </a:xfrm>
            <a:custGeom>
              <a:avLst/>
              <a:gdLst/>
              <a:ahLst/>
              <a:cxnLst/>
              <a:rect l="l" t="t" r="r" b="b"/>
              <a:pathLst>
                <a:path h="105410">
                  <a:moveTo>
                    <a:pt x="0" y="0"/>
                  </a:moveTo>
                  <a:lnTo>
                    <a:pt x="0" y="104928"/>
                  </a:lnTo>
                </a:path>
              </a:pathLst>
            </a:custGeom>
            <a:ln w="75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927305" y="2189342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5">
                  <a:moveTo>
                    <a:pt x="39475" y="0"/>
                  </a:moveTo>
                  <a:lnTo>
                    <a:pt x="19737" y="14803"/>
                  </a:lnTo>
                  <a:lnTo>
                    <a:pt x="0" y="0"/>
                  </a:lnTo>
                  <a:lnTo>
                    <a:pt x="19737" y="39475"/>
                  </a:lnTo>
                  <a:lnTo>
                    <a:pt x="394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947043" y="2381116"/>
              <a:ext cx="0" cy="105410"/>
            </a:xfrm>
            <a:custGeom>
              <a:avLst/>
              <a:gdLst/>
              <a:ahLst/>
              <a:cxnLst/>
              <a:rect l="l" t="t" r="r" b="b"/>
              <a:pathLst>
                <a:path h="105410">
                  <a:moveTo>
                    <a:pt x="0" y="0"/>
                  </a:moveTo>
                  <a:lnTo>
                    <a:pt x="0" y="104928"/>
                  </a:lnTo>
                </a:path>
              </a:pathLst>
            </a:custGeom>
            <a:ln w="75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927305" y="2471241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5">
                  <a:moveTo>
                    <a:pt x="39475" y="0"/>
                  </a:moveTo>
                  <a:lnTo>
                    <a:pt x="19737" y="14803"/>
                  </a:lnTo>
                  <a:lnTo>
                    <a:pt x="0" y="0"/>
                  </a:lnTo>
                  <a:lnTo>
                    <a:pt x="19737" y="39475"/>
                  </a:lnTo>
                  <a:lnTo>
                    <a:pt x="394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947043" y="2663015"/>
              <a:ext cx="0" cy="105410"/>
            </a:xfrm>
            <a:custGeom>
              <a:avLst/>
              <a:gdLst/>
              <a:ahLst/>
              <a:cxnLst/>
              <a:rect l="l" t="t" r="r" b="b"/>
              <a:pathLst>
                <a:path h="105410">
                  <a:moveTo>
                    <a:pt x="0" y="0"/>
                  </a:moveTo>
                  <a:lnTo>
                    <a:pt x="0" y="104928"/>
                  </a:lnTo>
                </a:path>
              </a:pathLst>
            </a:custGeom>
            <a:ln w="75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927305" y="2753140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5">
                  <a:moveTo>
                    <a:pt x="39475" y="0"/>
                  </a:moveTo>
                  <a:lnTo>
                    <a:pt x="19737" y="14803"/>
                  </a:lnTo>
                  <a:lnTo>
                    <a:pt x="0" y="0"/>
                  </a:lnTo>
                  <a:lnTo>
                    <a:pt x="19737" y="39475"/>
                  </a:lnTo>
                  <a:lnTo>
                    <a:pt x="394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947043" y="2944914"/>
              <a:ext cx="0" cy="105410"/>
            </a:xfrm>
            <a:custGeom>
              <a:avLst/>
              <a:gdLst/>
              <a:ahLst/>
              <a:cxnLst/>
              <a:rect l="l" t="t" r="r" b="b"/>
              <a:pathLst>
                <a:path h="105410">
                  <a:moveTo>
                    <a:pt x="0" y="0"/>
                  </a:moveTo>
                  <a:lnTo>
                    <a:pt x="0" y="104928"/>
                  </a:lnTo>
                </a:path>
              </a:pathLst>
            </a:custGeom>
            <a:ln w="75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927305" y="3035038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5">
                  <a:moveTo>
                    <a:pt x="39475" y="0"/>
                  </a:moveTo>
                  <a:lnTo>
                    <a:pt x="19737" y="14803"/>
                  </a:lnTo>
                  <a:lnTo>
                    <a:pt x="0" y="0"/>
                  </a:lnTo>
                  <a:lnTo>
                    <a:pt x="19737" y="39475"/>
                  </a:lnTo>
                  <a:lnTo>
                    <a:pt x="394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947043" y="3226812"/>
              <a:ext cx="0" cy="105410"/>
            </a:xfrm>
            <a:custGeom>
              <a:avLst/>
              <a:gdLst/>
              <a:ahLst/>
              <a:cxnLst/>
              <a:rect l="l" t="t" r="r" b="b"/>
              <a:pathLst>
                <a:path h="105410">
                  <a:moveTo>
                    <a:pt x="0" y="0"/>
                  </a:moveTo>
                  <a:lnTo>
                    <a:pt x="0" y="104928"/>
                  </a:lnTo>
                </a:path>
              </a:pathLst>
            </a:custGeom>
            <a:ln w="75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927305" y="3316937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5" h="40004">
                  <a:moveTo>
                    <a:pt x="39475" y="0"/>
                  </a:moveTo>
                  <a:lnTo>
                    <a:pt x="19737" y="14803"/>
                  </a:lnTo>
                  <a:lnTo>
                    <a:pt x="0" y="0"/>
                  </a:lnTo>
                  <a:lnTo>
                    <a:pt x="19737" y="39475"/>
                  </a:lnTo>
                  <a:lnTo>
                    <a:pt x="394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-12700" y="3333640"/>
            <a:ext cx="15494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</a:rPr>
              <a:t>K</a:t>
            </a:r>
            <a:r>
              <a:rPr sz="60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</a:rPr>
              <a:t>Mohammed</a:t>
            </a:r>
            <a:r>
              <a:rPr sz="600" spc="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</a:rPr>
              <a:t>Hamza-</a:t>
            </a:r>
            <a:r>
              <a:rPr sz="600" spc="-20" dirty="0">
                <a:solidFill>
                  <a:srgbClr val="FFFFFF"/>
                </a:solidFill>
                <a:latin typeface="Arial MT"/>
                <a:cs typeface="Arial MT"/>
              </a:rPr>
              <a:t>RA2211004010570,</a:t>
            </a:r>
            <a:r>
              <a:rPr sz="600" spc="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</a:rPr>
              <a:t>Di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523677" y="3364484"/>
            <a:ext cx="1050925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spc="-20" dirty="0">
                <a:solidFill>
                  <a:srgbClr val="FFFFFF"/>
                </a:solidFill>
                <a:latin typeface="Arial MT"/>
                <a:cs typeface="Arial MT"/>
              </a:rPr>
              <a:t>sha</a:t>
            </a:r>
            <a:r>
              <a:rPr sz="60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Rautela-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RA2211004010550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1535976" y="3346348"/>
            <a:ext cx="1536065" cy="109855"/>
          </a:xfrm>
          <a:custGeom>
            <a:avLst/>
            <a:gdLst/>
            <a:ahLst/>
            <a:cxnLst/>
            <a:rect l="l" t="t" r="r" b="b"/>
            <a:pathLst>
              <a:path w="1536064" h="109854">
                <a:moveTo>
                  <a:pt x="1535976" y="0"/>
                </a:moveTo>
                <a:lnTo>
                  <a:pt x="0" y="0"/>
                </a:lnTo>
                <a:lnTo>
                  <a:pt x="0" y="109651"/>
                </a:lnTo>
                <a:lnTo>
                  <a:pt x="1535976" y="109651"/>
                </a:lnTo>
                <a:lnTo>
                  <a:pt x="1535976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1535976" y="3346348"/>
            <a:ext cx="1536065" cy="109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4805">
              <a:lnSpc>
                <a:spcPts val="720"/>
              </a:lnSpc>
            </a:pPr>
            <a:r>
              <a:rPr sz="900" spc="-52" baseline="-27777" dirty="0">
                <a:latin typeface="Arial MT"/>
                <a:cs typeface="Arial MT"/>
              </a:rPr>
              <a:t>End</a:t>
            </a:r>
            <a:r>
              <a:rPr sz="600" spc="-35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RRAM</a:t>
            </a:r>
            <a:r>
              <a:rPr sz="600" spc="2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using</a:t>
            </a:r>
            <a:r>
              <a:rPr sz="600" spc="25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HfO</a:t>
            </a:r>
            <a:r>
              <a:rPr sz="750" spc="-30" baseline="-11111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2</a:t>
            </a:r>
            <a:endParaRPr sz="750" baseline="-11111">
              <a:latin typeface="Arial MT"/>
              <a:cs typeface="Arial MT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3071952" y="3346348"/>
            <a:ext cx="1536065" cy="109855"/>
          </a:xfrm>
          <a:custGeom>
            <a:avLst/>
            <a:gdLst/>
            <a:ahLst/>
            <a:cxnLst/>
            <a:rect l="l" t="t" r="r" b="b"/>
            <a:pathLst>
              <a:path w="1536064" h="109854">
                <a:moveTo>
                  <a:pt x="1535976" y="0"/>
                </a:moveTo>
                <a:lnTo>
                  <a:pt x="0" y="0"/>
                </a:lnTo>
                <a:lnTo>
                  <a:pt x="0" y="109651"/>
                </a:lnTo>
                <a:lnTo>
                  <a:pt x="1535976" y="109651"/>
                </a:lnTo>
                <a:lnTo>
                  <a:pt x="1535976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 txBox="1"/>
          <p:nvPr/>
        </p:nvSpPr>
        <p:spPr>
          <a:xfrm>
            <a:off x="3502025" y="3333640"/>
            <a:ext cx="4476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latin typeface="Arial MT"/>
                <a:cs typeface="Arial MT"/>
              </a:rPr>
              <a:t>May</a:t>
            </a:r>
            <a:r>
              <a:rPr sz="600" spc="3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7,</a:t>
            </a:r>
            <a:r>
              <a:rPr sz="600" spc="35" dirty="0">
                <a:latin typeface="Arial MT"/>
                <a:cs typeface="Arial MT"/>
              </a:rPr>
              <a:t> </a:t>
            </a:r>
            <a:r>
              <a:rPr sz="600" spc="-20" dirty="0">
                <a:latin typeface="Arial MT"/>
                <a:cs typeface="Arial MT"/>
              </a:rPr>
              <a:t>2025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4339509" y="3333640"/>
            <a:ext cx="21399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30" dirty="0">
                <a:latin typeface="Arial MT"/>
                <a:cs typeface="Arial MT"/>
              </a:rPr>
              <a:t>5</a:t>
            </a:r>
            <a:r>
              <a:rPr sz="600" spc="-60" dirty="0">
                <a:latin typeface="Arial MT"/>
                <a:cs typeface="Arial MT"/>
              </a:rPr>
              <a:t> </a:t>
            </a:r>
            <a:r>
              <a:rPr sz="600" spc="150" dirty="0">
                <a:latin typeface="Arial MT"/>
                <a:cs typeface="Arial MT"/>
              </a:rPr>
              <a:t>/</a:t>
            </a:r>
            <a:r>
              <a:rPr sz="600" spc="-60" dirty="0">
                <a:latin typeface="Arial MT"/>
                <a:cs typeface="Arial MT"/>
              </a:rPr>
              <a:t> </a:t>
            </a:r>
            <a:r>
              <a:rPr sz="600" spc="-25" dirty="0">
                <a:latin typeface="Arial MT"/>
                <a:cs typeface="Arial MT"/>
              </a:rPr>
              <a:t>14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65566" y="792"/>
            <a:ext cx="5842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Project</a:t>
            </a:r>
            <a:r>
              <a:rPr sz="600" spc="6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Specifics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4608195" cy="490220"/>
            <a:chOff x="0" y="0"/>
            <a:chExt cx="4608195" cy="490220"/>
          </a:xfrm>
        </p:grpSpPr>
        <p:sp>
          <p:nvSpPr>
            <p:cNvPr id="4" name="object 4"/>
            <p:cNvSpPr/>
            <p:nvPr/>
          </p:nvSpPr>
          <p:spPr>
            <a:xfrm>
              <a:off x="2303995" y="0"/>
              <a:ext cx="2304415" cy="140335"/>
            </a:xfrm>
            <a:custGeom>
              <a:avLst/>
              <a:gdLst/>
              <a:ahLst/>
              <a:cxnLst/>
              <a:rect l="l" t="t" r="r" b="b"/>
              <a:pathLst>
                <a:path w="2304415" h="140335">
                  <a:moveTo>
                    <a:pt x="2303995" y="0"/>
                  </a:moveTo>
                  <a:lnTo>
                    <a:pt x="0" y="0"/>
                  </a:lnTo>
                  <a:lnTo>
                    <a:pt x="0" y="140017"/>
                  </a:lnTo>
                  <a:lnTo>
                    <a:pt x="2303995" y="140017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40017"/>
              <a:ext cx="4608195" cy="350520"/>
            </a:xfrm>
            <a:custGeom>
              <a:avLst/>
              <a:gdLst/>
              <a:ahLst/>
              <a:cxnLst/>
              <a:rect l="l" t="t" r="r" b="b"/>
              <a:pathLst>
                <a:path w="4608195" h="350520">
                  <a:moveTo>
                    <a:pt x="4608004" y="0"/>
                  </a:moveTo>
                  <a:lnTo>
                    <a:pt x="0" y="0"/>
                  </a:lnTo>
                  <a:lnTo>
                    <a:pt x="0" y="350126"/>
                  </a:lnTo>
                  <a:lnTo>
                    <a:pt x="4608004" y="35012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Design</a:t>
            </a:r>
            <a:r>
              <a:rPr spc="-60" dirty="0"/>
              <a:t> </a:t>
            </a:r>
            <a:r>
              <a:rPr spc="-30" dirty="0"/>
              <a:t>Specifics</a:t>
            </a:r>
            <a:r>
              <a:rPr spc="-60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spc="-10" dirty="0"/>
              <a:t>Project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996315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358176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1547990"/>
            <a:ext cx="52590" cy="5259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865" y="1699818"/>
            <a:ext cx="52590" cy="5259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77532" y="912862"/>
            <a:ext cx="3773804" cy="1856739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113030">
              <a:lnSpc>
                <a:spcPct val="102600"/>
              </a:lnSpc>
              <a:spcBef>
                <a:spcPts val="55"/>
              </a:spcBef>
            </a:pPr>
            <a:r>
              <a:rPr sz="1100" b="1" spc="-35" dirty="0">
                <a:latin typeface="Arial"/>
                <a:cs typeface="Arial"/>
              </a:rPr>
              <a:t>Switching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b="1" spc="-40" dirty="0">
                <a:latin typeface="Arial"/>
                <a:cs typeface="Arial"/>
              </a:rPr>
              <a:t>Layer</a:t>
            </a:r>
            <a:r>
              <a:rPr sz="1100" b="1" spc="4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Material:</a:t>
            </a:r>
            <a:r>
              <a:rPr sz="1100" b="1" spc="114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Chose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HfO</a:t>
            </a:r>
            <a:r>
              <a:rPr sz="1200" baseline="-10416" dirty="0">
                <a:latin typeface="Arial MT"/>
                <a:cs typeface="Arial MT"/>
              </a:rPr>
              <a:t>2</a:t>
            </a:r>
            <a:r>
              <a:rPr sz="1200" spc="209" baseline="-10416" dirty="0">
                <a:latin typeface="Arial MT"/>
                <a:cs typeface="Arial MT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high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dielectric constant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compatibility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CMOS.</a:t>
            </a:r>
            <a:endParaRPr sz="11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175"/>
              </a:spcBef>
            </a:pPr>
            <a:r>
              <a:rPr sz="1100" b="1" spc="-35" dirty="0">
                <a:latin typeface="Arial"/>
                <a:cs typeface="Arial"/>
              </a:rPr>
              <a:t>Deposition</a:t>
            </a:r>
            <a:r>
              <a:rPr sz="1100" b="1" spc="4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Methods:</a:t>
            </a:r>
            <a:endParaRPr sz="1100">
              <a:latin typeface="Arial"/>
              <a:cs typeface="Arial"/>
            </a:endParaRPr>
          </a:p>
          <a:p>
            <a:pPr marL="314960" marR="73533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latin typeface="Tahoma"/>
                <a:cs typeface="Tahoma"/>
              </a:rPr>
              <a:t>TiN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(BE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spc="70" dirty="0">
                <a:latin typeface="Tahoma"/>
                <a:cs typeface="Tahoma"/>
              </a:rPr>
              <a:t>&amp;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TE):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Physical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Vapor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Deposition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(PVD) </a:t>
            </a:r>
            <a:r>
              <a:rPr sz="1000" dirty="0">
                <a:latin typeface="Tahoma"/>
                <a:cs typeface="Tahoma"/>
              </a:rPr>
              <a:t>HfO</a:t>
            </a:r>
            <a:r>
              <a:rPr sz="1050" baseline="-11904" dirty="0">
                <a:latin typeface="Arial MT"/>
                <a:cs typeface="Arial MT"/>
              </a:rPr>
              <a:t>2</a:t>
            </a:r>
            <a:r>
              <a:rPr sz="1000" dirty="0">
                <a:latin typeface="Tahoma"/>
                <a:cs typeface="Tahoma"/>
              </a:rPr>
              <a:t>:</a:t>
            </a:r>
            <a:r>
              <a:rPr sz="1000" spc="8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Atomic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Layer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Deposition</a:t>
            </a:r>
            <a:r>
              <a:rPr sz="1000" spc="-10" dirty="0">
                <a:latin typeface="Tahoma"/>
                <a:cs typeface="Tahoma"/>
              </a:rPr>
              <a:t> (ALD)</a:t>
            </a:r>
            <a:endParaRPr sz="1000">
              <a:latin typeface="Tahoma"/>
              <a:cs typeface="Tahoma"/>
            </a:endParaRPr>
          </a:p>
          <a:p>
            <a:pPr marL="38100" marR="163830">
              <a:lnSpc>
                <a:spcPct val="102600"/>
              </a:lnSpc>
              <a:spcBef>
                <a:spcPts val="315"/>
              </a:spcBef>
            </a:pPr>
            <a:r>
              <a:rPr sz="1100" b="1" spc="-30" dirty="0">
                <a:latin typeface="Arial"/>
                <a:cs typeface="Arial"/>
              </a:rPr>
              <a:t>Simulation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Tool:</a:t>
            </a:r>
            <a:r>
              <a:rPr sz="1100" b="1" spc="10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SEMulator3D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process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visualization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and </a:t>
            </a:r>
            <a:r>
              <a:rPr sz="1100" spc="-50" dirty="0">
                <a:latin typeface="Tahoma"/>
                <a:cs typeface="Tahoma"/>
              </a:rPr>
              <a:t>step-</a:t>
            </a:r>
            <a:r>
              <a:rPr sz="1100" spc="-65" dirty="0">
                <a:latin typeface="Tahoma"/>
                <a:cs typeface="Tahoma"/>
              </a:rPr>
              <a:t>by-</a:t>
            </a:r>
            <a:r>
              <a:rPr sz="1100" spc="-35" dirty="0">
                <a:latin typeface="Tahoma"/>
                <a:cs typeface="Tahoma"/>
              </a:rPr>
              <a:t>step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structure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modeling.</a:t>
            </a:r>
            <a:endParaRPr sz="1100">
              <a:latin typeface="Tahoma"/>
              <a:cs typeface="Tahoma"/>
            </a:endParaRPr>
          </a:p>
          <a:p>
            <a:pPr marL="38100" marR="30480">
              <a:lnSpc>
                <a:spcPct val="102699"/>
              </a:lnSpc>
              <a:spcBef>
                <a:spcPts val="295"/>
              </a:spcBef>
            </a:pPr>
            <a:r>
              <a:rPr sz="1100" b="1" spc="-40" dirty="0">
                <a:latin typeface="Arial"/>
                <a:cs typeface="Arial"/>
              </a:rPr>
              <a:t>Layer</a:t>
            </a:r>
            <a:r>
              <a:rPr sz="1100" b="1" spc="50" dirty="0">
                <a:latin typeface="Arial"/>
                <a:cs typeface="Arial"/>
              </a:rPr>
              <a:t> </a:t>
            </a:r>
            <a:r>
              <a:rPr sz="1100" b="1" spc="-50" dirty="0">
                <a:latin typeface="Arial"/>
                <a:cs typeface="Arial"/>
              </a:rPr>
              <a:t>Thickness:</a:t>
            </a:r>
            <a:r>
              <a:rPr sz="1100" b="1" spc="120" dirty="0">
                <a:latin typeface="Arial"/>
                <a:cs typeface="Arial"/>
              </a:rPr>
              <a:t> </a:t>
            </a:r>
            <a:r>
              <a:rPr sz="1100" spc="-20" dirty="0">
                <a:latin typeface="Tahoma"/>
                <a:cs typeface="Tahoma"/>
              </a:rPr>
              <a:t>Optimized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ensure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switching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efficiency</a:t>
            </a:r>
            <a:r>
              <a:rPr sz="1100" spc="-25" dirty="0">
                <a:latin typeface="Tahoma"/>
                <a:cs typeface="Tahoma"/>
              </a:rPr>
              <a:t> and minimal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leakage.</a:t>
            </a:r>
            <a:endParaRPr sz="11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35"/>
              </a:spcBef>
            </a:pPr>
            <a:r>
              <a:rPr sz="1100" b="1" spc="-10" dirty="0">
                <a:latin typeface="Arial"/>
                <a:cs typeface="Arial"/>
              </a:rPr>
              <a:t>Stack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Structure:</a:t>
            </a:r>
            <a:r>
              <a:rPr sz="1100" b="1" spc="95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Symmetrical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Metal–Insulator–Metal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(MIM).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1897176"/>
            <a:ext cx="65265" cy="6526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089" y="2279281"/>
            <a:ext cx="65265" cy="6526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1089" y="2661386"/>
            <a:ext cx="65265" cy="65265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6" name="object 16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523677" y="3364484"/>
            <a:ext cx="111760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spc="-55" dirty="0">
                <a:solidFill>
                  <a:srgbClr val="FFFFFF"/>
                </a:solidFill>
                <a:latin typeface="Arial MT"/>
                <a:cs typeface="Arial MT"/>
              </a:rPr>
              <a:t>sha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K</a:t>
            </a:r>
            <a:r>
              <a:rPr spc="80" dirty="0"/>
              <a:t> </a:t>
            </a:r>
            <a:r>
              <a:rPr spc="-10" dirty="0"/>
              <a:t>Mohammed</a:t>
            </a:r>
            <a:r>
              <a:rPr spc="85" dirty="0"/>
              <a:t> </a:t>
            </a:r>
            <a:r>
              <a:rPr spc="-25" dirty="0"/>
              <a:t>Hamza-</a:t>
            </a:r>
            <a:r>
              <a:rPr spc="-20" dirty="0"/>
              <a:t>RA2211004010570,</a:t>
            </a:r>
            <a:r>
              <a:rPr spc="85" dirty="0"/>
              <a:t> </a:t>
            </a:r>
            <a:r>
              <a:rPr spc="-25" dirty="0"/>
              <a:t>Di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972665" y="3351784"/>
            <a:ext cx="656590" cy="114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RRAM</a:t>
            </a:r>
            <a:r>
              <a:rPr sz="600" spc="35" dirty="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using</a:t>
            </a:r>
            <a:r>
              <a:rPr sz="600" spc="35" dirty="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HfO</a:t>
            </a:r>
            <a:r>
              <a:rPr sz="750" spc="-30" baseline="-11111" dirty="0">
                <a:solidFill>
                  <a:srgbClr val="FFFFFF"/>
                </a:solidFill>
                <a:latin typeface="Arial MT"/>
                <a:cs typeface="Arial MT"/>
                <a:hlinkClick r:id="rId10" action="ppaction://hlinksldjump"/>
              </a:rPr>
              <a:t>2</a:t>
            </a:r>
            <a:endParaRPr sz="750" baseline="-11111">
              <a:latin typeface="Arial MT"/>
              <a:cs typeface="Arial MT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May</a:t>
            </a:r>
            <a:r>
              <a:rPr spc="30" dirty="0"/>
              <a:t> </a:t>
            </a:r>
            <a:r>
              <a:rPr dirty="0"/>
              <a:t>7,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6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67967" y="792"/>
            <a:ext cx="6813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Fabrication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Process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4608195" cy="490220"/>
            <a:chOff x="0" y="0"/>
            <a:chExt cx="4608195" cy="490220"/>
          </a:xfrm>
        </p:grpSpPr>
        <p:sp>
          <p:nvSpPr>
            <p:cNvPr id="4" name="object 4"/>
            <p:cNvSpPr/>
            <p:nvPr/>
          </p:nvSpPr>
          <p:spPr>
            <a:xfrm>
              <a:off x="2303995" y="0"/>
              <a:ext cx="2304415" cy="140335"/>
            </a:xfrm>
            <a:custGeom>
              <a:avLst/>
              <a:gdLst/>
              <a:ahLst/>
              <a:cxnLst/>
              <a:rect l="l" t="t" r="r" b="b"/>
              <a:pathLst>
                <a:path w="2304415" h="140335">
                  <a:moveTo>
                    <a:pt x="2303995" y="0"/>
                  </a:moveTo>
                  <a:lnTo>
                    <a:pt x="0" y="0"/>
                  </a:lnTo>
                  <a:lnTo>
                    <a:pt x="0" y="140017"/>
                  </a:lnTo>
                  <a:lnTo>
                    <a:pt x="2303995" y="140017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40017"/>
              <a:ext cx="4608195" cy="350520"/>
            </a:xfrm>
            <a:custGeom>
              <a:avLst/>
              <a:gdLst/>
              <a:ahLst/>
              <a:cxnLst/>
              <a:rect l="l" t="t" r="r" b="b"/>
              <a:pathLst>
                <a:path w="4608195" h="350520">
                  <a:moveTo>
                    <a:pt x="4608004" y="0"/>
                  </a:moveTo>
                  <a:lnTo>
                    <a:pt x="0" y="0"/>
                  </a:lnTo>
                  <a:lnTo>
                    <a:pt x="0" y="350126"/>
                  </a:lnTo>
                  <a:lnTo>
                    <a:pt x="4608004" y="35012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Process</a:t>
            </a:r>
            <a:r>
              <a:rPr spc="-65" dirty="0"/>
              <a:t> </a:t>
            </a:r>
            <a:r>
              <a:rPr spc="-25" dirty="0"/>
              <a:t>Steps</a:t>
            </a:r>
            <a:r>
              <a:rPr spc="-65" dirty="0"/>
              <a:t> </a:t>
            </a:r>
            <a:r>
              <a:rPr spc="-45" dirty="0"/>
              <a:t>Overview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8544" y="1061935"/>
            <a:ext cx="4330960" cy="117499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44880" y="2292558"/>
            <a:ext cx="33178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30" dirty="0">
                <a:solidFill>
                  <a:srgbClr val="3333B2"/>
                </a:solidFill>
                <a:latin typeface="Tahoma"/>
                <a:cs typeface="Tahoma"/>
              </a:rPr>
              <a:t>Figure:</a:t>
            </a:r>
            <a:r>
              <a:rPr sz="1000" spc="1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Fabrication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steps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for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RRAM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structure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in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SEMulator3D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523677" y="3364484"/>
            <a:ext cx="111760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spc="-55" dirty="0">
                <a:solidFill>
                  <a:srgbClr val="FFFFFF"/>
                </a:solidFill>
                <a:latin typeface="Arial MT"/>
                <a:cs typeface="Arial MT"/>
              </a:rPr>
              <a:t>sha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K</a:t>
            </a:r>
            <a:r>
              <a:rPr spc="80" dirty="0"/>
              <a:t> </a:t>
            </a:r>
            <a:r>
              <a:rPr spc="-10" dirty="0"/>
              <a:t>Mohammed</a:t>
            </a:r>
            <a:r>
              <a:rPr spc="85" dirty="0"/>
              <a:t> </a:t>
            </a:r>
            <a:r>
              <a:rPr spc="-25" dirty="0"/>
              <a:t>Hamza-</a:t>
            </a:r>
            <a:r>
              <a:rPr spc="-20" dirty="0"/>
              <a:t>RA2211004010570,</a:t>
            </a:r>
            <a:r>
              <a:rPr spc="85" dirty="0"/>
              <a:t> </a:t>
            </a:r>
            <a:r>
              <a:rPr spc="-25" dirty="0"/>
              <a:t>Di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972665" y="3351784"/>
            <a:ext cx="656590" cy="114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RRAM</a:t>
            </a:r>
            <a:r>
              <a:rPr sz="600" spc="35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using</a:t>
            </a:r>
            <a:r>
              <a:rPr sz="600" spc="35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HfO</a:t>
            </a:r>
            <a:r>
              <a:rPr sz="750" spc="-30" baseline="-11111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2</a:t>
            </a:r>
            <a:endParaRPr sz="750" baseline="-11111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May</a:t>
            </a:r>
            <a:r>
              <a:rPr spc="30" dirty="0"/>
              <a:t> </a:t>
            </a:r>
            <a:r>
              <a:rPr dirty="0"/>
              <a:t>7,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7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67967" y="792"/>
            <a:ext cx="6813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Fabrication</a:t>
            </a:r>
            <a:r>
              <a:rPr sz="600" spc="-25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Process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4608195" cy="490220"/>
            <a:chOff x="0" y="0"/>
            <a:chExt cx="4608195" cy="490220"/>
          </a:xfrm>
        </p:grpSpPr>
        <p:sp>
          <p:nvSpPr>
            <p:cNvPr id="4" name="object 4"/>
            <p:cNvSpPr/>
            <p:nvPr/>
          </p:nvSpPr>
          <p:spPr>
            <a:xfrm>
              <a:off x="2303995" y="0"/>
              <a:ext cx="2304415" cy="140335"/>
            </a:xfrm>
            <a:custGeom>
              <a:avLst/>
              <a:gdLst/>
              <a:ahLst/>
              <a:cxnLst/>
              <a:rect l="l" t="t" r="r" b="b"/>
              <a:pathLst>
                <a:path w="2304415" h="140335">
                  <a:moveTo>
                    <a:pt x="2303995" y="0"/>
                  </a:moveTo>
                  <a:lnTo>
                    <a:pt x="0" y="0"/>
                  </a:lnTo>
                  <a:lnTo>
                    <a:pt x="0" y="140017"/>
                  </a:lnTo>
                  <a:lnTo>
                    <a:pt x="2303995" y="140017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40017"/>
              <a:ext cx="4608195" cy="350520"/>
            </a:xfrm>
            <a:custGeom>
              <a:avLst/>
              <a:gdLst/>
              <a:ahLst/>
              <a:cxnLst/>
              <a:rect l="l" t="t" r="r" b="b"/>
              <a:pathLst>
                <a:path w="4608195" h="350520">
                  <a:moveTo>
                    <a:pt x="4608004" y="0"/>
                  </a:moveTo>
                  <a:lnTo>
                    <a:pt x="0" y="0"/>
                  </a:lnTo>
                  <a:lnTo>
                    <a:pt x="0" y="350126"/>
                  </a:lnTo>
                  <a:lnTo>
                    <a:pt x="4608004" y="35012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5300" y="199895"/>
            <a:ext cx="17595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0" dirty="0"/>
              <a:t>Layer</a:t>
            </a:r>
            <a:r>
              <a:rPr spc="-35" dirty="0"/>
              <a:t> </a:t>
            </a:r>
            <a:r>
              <a:rPr spc="-30" dirty="0"/>
              <a:t>and </a:t>
            </a:r>
            <a:r>
              <a:rPr dirty="0"/>
              <a:t>Mask</a:t>
            </a:r>
            <a:r>
              <a:rPr spc="-30" dirty="0"/>
              <a:t> </a:t>
            </a:r>
            <a:r>
              <a:rPr spc="-25" dirty="0"/>
              <a:t>Layout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8544" y="708336"/>
            <a:ext cx="4330804" cy="203623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45502" y="2822986"/>
            <a:ext cx="31172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-30" dirty="0">
                <a:solidFill>
                  <a:srgbClr val="3333B2"/>
                </a:solidFill>
                <a:latin typeface="Tahoma"/>
                <a:cs typeface="Tahoma"/>
              </a:rPr>
              <a:t>Figure:</a:t>
            </a:r>
            <a:r>
              <a:rPr sz="1000" spc="-1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Layer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layout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BE,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55" dirty="0">
                <a:latin typeface="Tahoma"/>
                <a:cs typeface="Tahoma"/>
              </a:rPr>
              <a:t>TE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mask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HfO</a:t>
            </a:r>
            <a:r>
              <a:rPr sz="1050" baseline="-11904" dirty="0">
                <a:latin typeface="Arial MT"/>
                <a:cs typeface="Arial MT"/>
              </a:rPr>
              <a:t>2</a:t>
            </a:r>
            <a:r>
              <a:rPr sz="1050" spc="240" baseline="-11904" dirty="0">
                <a:latin typeface="Arial MT"/>
                <a:cs typeface="Arial MT"/>
              </a:rPr>
              <a:t> </a:t>
            </a:r>
            <a:r>
              <a:rPr sz="1000" spc="-10" dirty="0">
                <a:latin typeface="Tahoma"/>
                <a:cs typeface="Tahoma"/>
              </a:rPr>
              <a:t>defined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523677" y="3364484"/>
            <a:ext cx="111760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spc="-55" dirty="0">
                <a:solidFill>
                  <a:srgbClr val="FFFFFF"/>
                </a:solidFill>
                <a:latin typeface="Arial MT"/>
                <a:cs typeface="Arial MT"/>
              </a:rPr>
              <a:t>sha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K</a:t>
            </a:r>
            <a:r>
              <a:rPr spc="80" dirty="0"/>
              <a:t> </a:t>
            </a:r>
            <a:r>
              <a:rPr spc="-10" dirty="0"/>
              <a:t>Mohammed</a:t>
            </a:r>
            <a:r>
              <a:rPr spc="85" dirty="0"/>
              <a:t> </a:t>
            </a:r>
            <a:r>
              <a:rPr spc="-25" dirty="0"/>
              <a:t>Hamza-</a:t>
            </a:r>
            <a:r>
              <a:rPr spc="-20" dirty="0"/>
              <a:t>RA2211004010570,</a:t>
            </a:r>
            <a:r>
              <a:rPr spc="85" dirty="0"/>
              <a:t> </a:t>
            </a:r>
            <a:r>
              <a:rPr spc="-25" dirty="0"/>
              <a:t>Di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972665" y="3351784"/>
            <a:ext cx="656590" cy="114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RRAM</a:t>
            </a:r>
            <a:r>
              <a:rPr sz="600" spc="35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using</a:t>
            </a:r>
            <a:r>
              <a:rPr sz="600" spc="35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HfO</a:t>
            </a:r>
            <a:r>
              <a:rPr sz="750" spc="-30" baseline="-11111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2</a:t>
            </a:r>
            <a:endParaRPr sz="750" baseline="-11111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May</a:t>
            </a:r>
            <a:r>
              <a:rPr spc="30" dirty="0"/>
              <a:t> </a:t>
            </a:r>
            <a:r>
              <a:rPr dirty="0"/>
              <a:t>7,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8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65084" y="792"/>
            <a:ext cx="4845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Specifications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4608195" cy="490220"/>
            <a:chOff x="0" y="0"/>
            <a:chExt cx="4608195" cy="490220"/>
          </a:xfrm>
        </p:grpSpPr>
        <p:sp>
          <p:nvSpPr>
            <p:cNvPr id="4" name="object 4"/>
            <p:cNvSpPr/>
            <p:nvPr/>
          </p:nvSpPr>
          <p:spPr>
            <a:xfrm>
              <a:off x="2303995" y="0"/>
              <a:ext cx="2304415" cy="140335"/>
            </a:xfrm>
            <a:custGeom>
              <a:avLst/>
              <a:gdLst/>
              <a:ahLst/>
              <a:cxnLst/>
              <a:rect l="l" t="t" r="r" b="b"/>
              <a:pathLst>
                <a:path w="2304415" h="140335">
                  <a:moveTo>
                    <a:pt x="2303995" y="0"/>
                  </a:moveTo>
                  <a:lnTo>
                    <a:pt x="0" y="0"/>
                  </a:lnTo>
                  <a:lnTo>
                    <a:pt x="0" y="140017"/>
                  </a:lnTo>
                  <a:lnTo>
                    <a:pt x="2303995" y="140017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40017"/>
              <a:ext cx="4608195" cy="350520"/>
            </a:xfrm>
            <a:custGeom>
              <a:avLst/>
              <a:gdLst/>
              <a:ahLst/>
              <a:cxnLst/>
              <a:rect l="l" t="t" r="r" b="b"/>
              <a:pathLst>
                <a:path w="4608195" h="350520">
                  <a:moveTo>
                    <a:pt x="4608004" y="0"/>
                  </a:moveTo>
                  <a:lnTo>
                    <a:pt x="0" y="0"/>
                  </a:lnTo>
                  <a:lnTo>
                    <a:pt x="0" y="350126"/>
                  </a:lnTo>
                  <a:lnTo>
                    <a:pt x="4608004" y="35012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5300" y="199895"/>
            <a:ext cx="14897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50" dirty="0">
                <a:solidFill>
                  <a:srgbClr val="3333B2"/>
                </a:solidFill>
                <a:latin typeface="Tahoma"/>
                <a:cs typeface="Tahoma"/>
              </a:rPr>
              <a:t>Layer</a:t>
            </a:r>
            <a:r>
              <a:rPr sz="1400" spc="-30" dirty="0">
                <a:solidFill>
                  <a:srgbClr val="3333B2"/>
                </a:solidFill>
                <a:latin typeface="Tahoma"/>
                <a:cs typeface="Tahoma"/>
              </a:rPr>
              <a:t> Specifications</a:t>
            </a:r>
            <a:endParaRPr sz="1400">
              <a:latin typeface="Tahoma"/>
              <a:cs typeface="Tahom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38544" y="1164386"/>
          <a:ext cx="4545965" cy="1177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34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2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34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9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51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100" b="1" spc="-20" dirty="0">
                          <a:latin typeface="Arial"/>
                          <a:cs typeface="Arial"/>
                        </a:rPr>
                        <a:t>Layer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Material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Thickness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100" b="1" spc="-35" dirty="0">
                          <a:latin typeface="Arial"/>
                          <a:cs typeface="Arial"/>
                        </a:rPr>
                        <a:t>Deposition</a:t>
                      </a:r>
                      <a:r>
                        <a:rPr sz="1100" b="1" spc="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10" dirty="0">
                          <a:latin typeface="Arial"/>
                          <a:cs typeface="Arial"/>
                        </a:rPr>
                        <a:t>Metho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26034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Top</a:t>
                      </a:r>
                      <a:r>
                        <a:rPr sz="1100" spc="-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Electrode</a:t>
                      </a:r>
                      <a:r>
                        <a:rPr sz="1100" spc="-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(TE)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2413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100" spc="-25" dirty="0">
                          <a:latin typeface="Tahoma"/>
                          <a:cs typeface="Tahoma"/>
                        </a:rPr>
                        <a:t>TiN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2413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7</a:t>
                      </a:r>
                      <a:r>
                        <a:rPr sz="1100" spc="-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nm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2413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100" spc="35" dirty="0">
                          <a:latin typeface="Tahoma"/>
                          <a:cs typeface="Tahoma"/>
                        </a:rPr>
                        <a:t>PVD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2413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Tahoma"/>
                          <a:cs typeface="Tahoma"/>
                        </a:rPr>
                        <a:t>Switching</a:t>
                      </a:r>
                      <a:r>
                        <a:rPr sz="1100" spc="-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Layer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Tahoma"/>
                          <a:cs typeface="Tahoma"/>
                        </a:rPr>
                        <a:t>HfO</a:t>
                      </a:r>
                      <a:r>
                        <a:rPr sz="1200" spc="-30" baseline="-10416" dirty="0">
                          <a:latin typeface="Arial MT"/>
                          <a:cs typeface="Arial MT"/>
                        </a:rPr>
                        <a:t>2</a:t>
                      </a:r>
                      <a:endParaRPr sz="1200" baseline="-10416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Tahoma"/>
                          <a:cs typeface="Tahoma"/>
                        </a:rPr>
                        <a:t>20</a:t>
                      </a:r>
                      <a:r>
                        <a:rPr sz="1100" spc="-6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35" dirty="0">
                          <a:latin typeface="Tahoma"/>
                          <a:cs typeface="Tahoma"/>
                        </a:rPr>
                        <a:t>nm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Tahoma"/>
                          <a:cs typeface="Tahoma"/>
                        </a:rPr>
                        <a:t>ALD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5735">
                <a:tc>
                  <a:txBody>
                    <a:bodyPr/>
                    <a:lstStyle/>
                    <a:p>
                      <a:pPr>
                        <a:lnSpc>
                          <a:spcPts val="113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Bottom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Electrode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(BE)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30"/>
                        </a:lnSpc>
                      </a:pPr>
                      <a:r>
                        <a:rPr sz="1100" spc="-25" dirty="0">
                          <a:latin typeface="Tahoma"/>
                          <a:cs typeface="Tahoma"/>
                        </a:rPr>
                        <a:t>TiN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3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7</a:t>
                      </a:r>
                      <a:r>
                        <a:rPr sz="1100" spc="-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nm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ts val="1130"/>
                        </a:lnSpc>
                      </a:pPr>
                      <a:r>
                        <a:rPr sz="1100" spc="35" dirty="0">
                          <a:latin typeface="Tahoma"/>
                          <a:cs typeface="Tahoma"/>
                        </a:rPr>
                        <a:t>PVD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Passivation/Isolation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1175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SiO</a:t>
                      </a:r>
                      <a:r>
                        <a:rPr sz="1200" baseline="-10416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200" spc="202" baseline="-10416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or</a:t>
                      </a:r>
                      <a:r>
                        <a:rPr sz="11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similar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Tahoma"/>
                          <a:cs typeface="Tahoma"/>
                        </a:rPr>
                        <a:t>40</a:t>
                      </a:r>
                      <a:r>
                        <a:rPr sz="1100" spc="-6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35" dirty="0">
                          <a:latin typeface="Tahoma"/>
                          <a:cs typeface="Tahoma"/>
                        </a:rPr>
                        <a:t>nm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Tahoma"/>
                          <a:cs typeface="Tahoma"/>
                        </a:rPr>
                        <a:t>CVD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>
                        <a:lnSpc>
                          <a:spcPts val="1130"/>
                        </a:lnSpc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Substrate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30"/>
                        </a:lnSpc>
                      </a:pPr>
                      <a:r>
                        <a:rPr sz="1100" spc="-25" dirty="0">
                          <a:latin typeface="Tahoma"/>
                          <a:cs typeface="Tahoma"/>
                        </a:rPr>
                        <a:t>Si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30"/>
                        </a:lnSpc>
                      </a:pPr>
                      <a:r>
                        <a:rPr sz="1100" spc="-20" dirty="0">
                          <a:latin typeface="Tahoma"/>
                          <a:cs typeface="Tahoma"/>
                        </a:rPr>
                        <a:t>Bulk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30"/>
                        </a:lnSpc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Base</a:t>
                      </a:r>
                      <a:r>
                        <a:rPr sz="1100" spc="-8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wafer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274356" y="2405321"/>
            <a:ext cx="20593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30" dirty="0">
                <a:solidFill>
                  <a:srgbClr val="3333B2"/>
                </a:solidFill>
                <a:latin typeface="Tahoma"/>
                <a:cs typeface="Tahoma"/>
              </a:rPr>
              <a:t>Table:</a:t>
            </a:r>
            <a:r>
              <a:rPr sz="1000" spc="2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Tabulated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RRAM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Stack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Details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523677" y="3364484"/>
            <a:ext cx="111760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spc="-55" dirty="0">
                <a:solidFill>
                  <a:srgbClr val="FFFFFF"/>
                </a:solidFill>
                <a:latin typeface="Arial MT"/>
                <a:cs typeface="Arial MT"/>
              </a:rPr>
              <a:t>sha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K</a:t>
            </a:r>
            <a:r>
              <a:rPr spc="80" dirty="0"/>
              <a:t> </a:t>
            </a:r>
            <a:r>
              <a:rPr spc="-10" dirty="0"/>
              <a:t>Mohammed</a:t>
            </a:r>
            <a:r>
              <a:rPr spc="85" dirty="0"/>
              <a:t> </a:t>
            </a:r>
            <a:r>
              <a:rPr spc="-25" dirty="0"/>
              <a:t>Hamza-</a:t>
            </a:r>
            <a:r>
              <a:rPr spc="-20" dirty="0"/>
              <a:t>RA2211004010570,</a:t>
            </a:r>
            <a:r>
              <a:rPr spc="85" dirty="0"/>
              <a:t> </a:t>
            </a:r>
            <a:r>
              <a:rPr spc="-25" dirty="0"/>
              <a:t>Di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972665" y="3351784"/>
            <a:ext cx="656590" cy="114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RRAM</a:t>
            </a:r>
            <a:r>
              <a:rPr sz="600" spc="35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using</a:t>
            </a:r>
            <a:r>
              <a:rPr sz="600" spc="35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HfO</a:t>
            </a:r>
            <a:r>
              <a:rPr sz="750" spc="-30" baseline="-11111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2</a:t>
            </a:r>
            <a:endParaRPr sz="750" baseline="-11111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May</a:t>
            </a:r>
            <a:r>
              <a:rPr spc="30" dirty="0"/>
              <a:t> </a:t>
            </a:r>
            <a:r>
              <a:rPr dirty="0"/>
              <a:t>7,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9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65718" y="792"/>
            <a:ext cx="3841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Simulation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4608195" cy="490220"/>
            <a:chOff x="0" y="0"/>
            <a:chExt cx="4608195" cy="490220"/>
          </a:xfrm>
        </p:grpSpPr>
        <p:sp>
          <p:nvSpPr>
            <p:cNvPr id="4" name="object 4"/>
            <p:cNvSpPr/>
            <p:nvPr/>
          </p:nvSpPr>
          <p:spPr>
            <a:xfrm>
              <a:off x="2303995" y="0"/>
              <a:ext cx="2304415" cy="140335"/>
            </a:xfrm>
            <a:custGeom>
              <a:avLst/>
              <a:gdLst/>
              <a:ahLst/>
              <a:cxnLst/>
              <a:rect l="l" t="t" r="r" b="b"/>
              <a:pathLst>
                <a:path w="2304415" h="140335">
                  <a:moveTo>
                    <a:pt x="2303995" y="0"/>
                  </a:moveTo>
                  <a:lnTo>
                    <a:pt x="0" y="0"/>
                  </a:lnTo>
                  <a:lnTo>
                    <a:pt x="0" y="140017"/>
                  </a:lnTo>
                  <a:lnTo>
                    <a:pt x="2303995" y="140017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40017"/>
              <a:ext cx="4608195" cy="350520"/>
            </a:xfrm>
            <a:custGeom>
              <a:avLst/>
              <a:gdLst/>
              <a:ahLst/>
              <a:cxnLst/>
              <a:rect l="l" t="t" r="r" b="b"/>
              <a:pathLst>
                <a:path w="4608195" h="350520">
                  <a:moveTo>
                    <a:pt x="4608004" y="0"/>
                  </a:moveTo>
                  <a:lnTo>
                    <a:pt x="0" y="0"/>
                  </a:lnTo>
                  <a:lnTo>
                    <a:pt x="0" y="350126"/>
                  </a:lnTo>
                  <a:lnTo>
                    <a:pt x="4608004" y="35012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5300" y="199895"/>
            <a:ext cx="16116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3333B2"/>
                </a:solidFill>
                <a:latin typeface="Tahoma"/>
                <a:cs typeface="Tahoma"/>
              </a:rPr>
              <a:t>3D</a:t>
            </a:r>
            <a:r>
              <a:rPr sz="1400" spc="-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3333B2"/>
                </a:solidFill>
                <a:latin typeface="Tahoma"/>
                <a:cs typeface="Tahoma"/>
              </a:rPr>
              <a:t>Model</a:t>
            </a:r>
            <a:r>
              <a:rPr sz="1400" spc="-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3333B2"/>
                </a:solidFill>
                <a:latin typeface="Tahoma"/>
                <a:cs typeface="Tahoma"/>
              </a:rPr>
              <a:t>Simulation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588015"/>
            <a:ext cx="4608195" cy="2868295"/>
            <a:chOff x="0" y="588015"/>
            <a:chExt cx="4608195" cy="286829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588015"/>
              <a:ext cx="4330923" cy="283201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523677" y="3364484"/>
            <a:ext cx="111760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spc="-55" dirty="0">
                <a:solidFill>
                  <a:srgbClr val="FFFFFF"/>
                </a:solidFill>
                <a:latin typeface="Arial MT"/>
                <a:cs typeface="Arial MT"/>
              </a:rPr>
              <a:t>sha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K</a:t>
            </a:r>
            <a:r>
              <a:rPr spc="80" dirty="0"/>
              <a:t> </a:t>
            </a:r>
            <a:r>
              <a:rPr spc="-10" dirty="0"/>
              <a:t>Mohammed</a:t>
            </a:r>
            <a:r>
              <a:rPr spc="85" dirty="0"/>
              <a:t> </a:t>
            </a:r>
            <a:r>
              <a:rPr spc="-25" dirty="0"/>
              <a:t>Hamza-</a:t>
            </a:r>
            <a:r>
              <a:rPr spc="-20" dirty="0"/>
              <a:t>RA2211004010570,</a:t>
            </a:r>
            <a:r>
              <a:rPr spc="85" dirty="0"/>
              <a:t> </a:t>
            </a:r>
            <a:r>
              <a:rPr spc="-25" dirty="0"/>
              <a:t>Di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972665" y="3351784"/>
            <a:ext cx="656590" cy="114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RRAM</a:t>
            </a:r>
            <a:r>
              <a:rPr sz="600" spc="35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using</a:t>
            </a:r>
            <a:r>
              <a:rPr sz="600" spc="35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HfO</a:t>
            </a:r>
            <a:r>
              <a:rPr sz="750" spc="-30" baseline="-11111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2</a:t>
            </a:r>
            <a:endParaRPr sz="750" baseline="-11111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May</a:t>
            </a:r>
            <a:r>
              <a:rPr spc="30" dirty="0"/>
              <a:t> </a:t>
            </a:r>
            <a:r>
              <a:rPr dirty="0"/>
              <a:t>7,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10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4213" y="792"/>
            <a:ext cx="64516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I-V</a:t>
            </a:r>
            <a:r>
              <a:rPr sz="600" spc="9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Characteristics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4608195" cy="490220"/>
            <a:chOff x="0" y="0"/>
            <a:chExt cx="4608195" cy="490220"/>
          </a:xfrm>
        </p:grpSpPr>
        <p:sp>
          <p:nvSpPr>
            <p:cNvPr id="4" name="object 4"/>
            <p:cNvSpPr/>
            <p:nvPr/>
          </p:nvSpPr>
          <p:spPr>
            <a:xfrm>
              <a:off x="2303995" y="0"/>
              <a:ext cx="2304415" cy="140335"/>
            </a:xfrm>
            <a:custGeom>
              <a:avLst/>
              <a:gdLst/>
              <a:ahLst/>
              <a:cxnLst/>
              <a:rect l="l" t="t" r="r" b="b"/>
              <a:pathLst>
                <a:path w="2304415" h="140335">
                  <a:moveTo>
                    <a:pt x="2303995" y="0"/>
                  </a:moveTo>
                  <a:lnTo>
                    <a:pt x="0" y="0"/>
                  </a:lnTo>
                  <a:lnTo>
                    <a:pt x="0" y="140017"/>
                  </a:lnTo>
                  <a:lnTo>
                    <a:pt x="2303995" y="140017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40017"/>
              <a:ext cx="4608195" cy="350520"/>
            </a:xfrm>
            <a:custGeom>
              <a:avLst/>
              <a:gdLst/>
              <a:ahLst/>
              <a:cxnLst/>
              <a:rect l="l" t="t" r="r" b="b"/>
              <a:pathLst>
                <a:path w="4608195" h="350520">
                  <a:moveTo>
                    <a:pt x="4608004" y="0"/>
                  </a:moveTo>
                  <a:lnTo>
                    <a:pt x="0" y="0"/>
                  </a:lnTo>
                  <a:lnTo>
                    <a:pt x="0" y="350126"/>
                  </a:lnTo>
                  <a:lnTo>
                    <a:pt x="4608004" y="35012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9900" y="199895"/>
            <a:ext cx="264731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400" spc="-40" dirty="0">
                <a:solidFill>
                  <a:srgbClr val="3333B2"/>
                </a:solidFill>
                <a:latin typeface="Tahoma"/>
                <a:cs typeface="Tahoma"/>
              </a:rPr>
              <a:t>I-</a:t>
            </a:r>
            <a:r>
              <a:rPr sz="1400" dirty="0">
                <a:solidFill>
                  <a:srgbClr val="3333B2"/>
                </a:solidFill>
                <a:latin typeface="Tahoma"/>
                <a:cs typeface="Tahoma"/>
              </a:rPr>
              <a:t>V</a:t>
            </a:r>
            <a:r>
              <a:rPr sz="1400" spc="-1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400" spc="-30" dirty="0">
                <a:solidFill>
                  <a:srgbClr val="3333B2"/>
                </a:solidFill>
                <a:latin typeface="Tahoma"/>
                <a:cs typeface="Tahoma"/>
              </a:rPr>
              <a:t>Characteristics</a:t>
            </a:r>
            <a:r>
              <a:rPr sz="1400" spc="-1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3333B2"/>
                </a:solidFill>
                <a:latin typeface="Tahoma"/>
                <a:cs typeface="Tahoma"/>
              </a:rPr>
              <a:t>of</a:t>
            </a:r>
            <a:r>
              <a:rPr sz="1400" spc="-1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3333B2"/>
                </a:solidFill>
                <a:latin typeface="Tahoma"/>
                <a:cs typeface="Tahoma"/>
              </a:rPr>
              <a:t>HfO</a:t>
            </a:r>
            <a:r>
              <a:rPr sz="1500" baseline="-11111" dirty="0">
                <a:solidFill>
                  <a:srgbClr val="3333B2"/>
                </a:solidFill>
                <a:latin typeface="Tahoma"/>
                <a:cs typeface="Tahoma"/>
              </a:rPr>
              <a:t>2</a:t>
            </a:r>
            <a:r>
              <a:rPr sz="1500" spc="225" baseline="-11111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400" spc="40" dirty="0">
                <a:solidFill>
                  <a:srgbClr val="3333B2"/>
                </a:solidFill>
                <a:latin typeface="Tahoma"/>
                <a:cs typeface="Tahoma"/>
              </a:rPr>
              <a:t>RRAM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588060"/>
            <a:ext cx="4608195" cy="2868295"/>
            <a:chOff x="0" y="588060"/>
            <a:chExt cx="4608195" cy="286829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9907" y="588060"/>
              <a:ext cx="3248202" cy="276901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523677" y="3364484"/>
            <a:ext cx="111760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spc="-55" dirty="0">
                <a:solidFill>
                  <a:srgbClr val="FFFFFF"/>
                </a:solidFill>
                <a:latin typeface="Arial MT"/>
                <a:cs typeface="Arial MT"/>
              </a:rPr>
              <a:t>sha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K</a:t>
            </a:r>
            <a:r>
              <a:rPr spc="80" dirty="0"/>
              <a:t> </a:t>
            </a:r>
            <a:r>
              <a:rPr spc="-10" dirty="0"/>
              <a:t>Mohammed</a:t>
            </a:r>
            <a:r>
              <a:rPr spc="85" dirty="0"/>
              <a:t> </a:t>
            </a:r>
            <a:r>
              <a:rPr spc="-25" dirty="0"/>
              <a:t>Hamza-</a:t>
            </a:r>
            <a:r>
              <a:rPr spc="-20" dirty="0"/>
              <a:t>RA2211004010570,</a:t>
            </a:r>
            <a:r>
              <a:rPr spc="85" dirty="0"/>
              <a:t> </a:t>
            </a:r>
            <a:r>
              <a:rPr spc="-25" dirty="0"/>
              <a:t>Di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972665" y="3351784"/>
            <a:ext cx="656590" cy="114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RRAM</a:t>
            </a:r>
            <a:r>
              <a:rPr sz="600" spc="35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using</a:t>
            </a:r>
            <a:r>
              <a:rPr sz="600" spc="35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HfO</a:t>
            </a:r>
            <a:r>
              <a:rPr sz="750" spc="-30" baseline="-11111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2</a:t>
            </a:r>
            <a:endParaRPr sz="750" baseline="-11111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May</a:t>
            </a:r>
            <a:r>
              <a:rPr spc="30" dirty="0"/>
              <a:t> </a:t>
            </a:r>
            <a:r>
              <a:rPr dirty="0"/>
              <a:t>7,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11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91093" y="792"/>
            <a:ext cx="45847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Observations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4608195" cy="490220"/>
            <a:chOff x="0" y="0"/>
            <a:chExt cx="4608195" cy="490220"/>
          </a:xfrm>
        </p:grpSpPr>
        <p:sp>
          <p:nvSpPr>
            <p:cNvPr id="4" name="object 4"/>
            <p:cNvSpPr/>
            <p:nvPr/>
          </p:nvSpPr>
          <p:spPr>
            <a:xfrm>
              <a:off x="2303995" y="0"/>
              <a:ext cx="2304415" cy="140335"/>
            </a:xfrm>
            <a:custGeom>
              <a:avLst/>
              <a:gdLst/>
              <a:ahLst/>
              <a:cxnLst/>
              <a:rect l="l" t="t" r="r" b="b"/>
              <a:pathLst>
                <a:path w="2304415" h="140335">
                  <a:moveTo>
                    <a:pt x="2303995" y="0"/>
                  </a:moveTo>
                  <a:lnTo>
                    <a:pt x="0" y="0"/>
                  </a:lnTo>
                  <a:lnTo>
                    <a:pt x="0" y="140017"/>
                  </a:lnTo>
                  <a:lnTo>
                    <a:pt x="2303995" y="140017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40017"/>
              <a:ext cx="4608195" cy="350520"/>
            </a:xfrm>
            <a:custGeom>
              <a:avLst/>
              <a:gdLst/>
              <a:ahLst/>
              <a:cxnLst/>
              <a:rect l="l" t="t" r="r" b="b"/>
              <a:pathLst>
                <a:path w="4608195" h="350520">
                  <a:moveTo>
                    <a:pt x="4608004" y="0"/>
                  </a:moveTo>
                  <a:lnTo>
                    <a:pt x="0" y="0"/>
                  </a:lnTo>
                  <a:lnTo>
                    <a:pt x="0" y="350126"/>
                  </a:lnTo>
                  <a:lnTo>
                    <a:pt x="4608004" y="35012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Key</a:t>
            </a:r>
            <a:r>
              <a:rPr spc="-20" dirty="0"/>
              <a:t> </a:t>
            </a:r>
            <a:r>
              <a:rPr spc="-45" dirty="0"/>
              <a:t>Observations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413383"/>
            <a:ext cx="65265" cy="6526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25299"/>
              </a:lnSpc>
              <a:spcBef>
                <a:spcPts val="100"/>
              </a:spcBef>
            </a:pPr>
            <a:r>
              <a:rPr dirty="0"/>
              <a:t>HfO</a:t>
            </a:r>
            <a:r>
              <a:rPr sz="1200" baseline="-10416" dirty="0">
                <a:latin typeface="Arial MT"/>
                <a:cs typeface="Arial MT"/>
              </a:rPr>
              <a:t>2</a:t>
            </a:r>
            <a:r>
              <a:rPr sz="1200" spc="202" baseline="-10416" dirty="0">
                <a:latin typeface="Arial MT"/>
                <a:cs typeface="Arial MT"/>
              </a:rPr>
              <a:t> </a:t>
            </a:r>
            <a:r>
              <a:rPr sz="1100" spc="-30" dirty="0"/>
              <a:t>switching </a:t>
            </a:r>
            <a:r>
              <a:rPr sz="1100" spc="-55" dirty="0"/>
              <a:t>layer</a:t>
            </a:r>
            <a:r>
              <a:rPr sz="1100" spc="-25" dirty="0"/>
              <a:t> </a:t>
            </a:r>
            <a:r>
              <a:rPr sz="1100" spc="-65" dirty="0"/>
              <a:t>was</a:t>
            </a:r>
            <a:r>
              <a:rPr sz="1100" spc="-25" dirty="0"/>
              <a:t> </a:t>
            </a:r>
            <a:r>
              <a:rPr sz="1100" spc="-40" dirty="0"/>
              <a:t>deposited</a:t>
            </a:r>
            <a:r>
              <a:rPr sz="1100" spc="-25" dirty="0"/>
              <a:t> </a:t>
            </a:r>
            <a:r>
              <a:rPr sz="1100" dirty="0"/>
              <a:t>with</a:t>
            </a:r>
            <a:r>
              <a:rPr sz="1100" spc="-25" dirty="0"/>
              <a:t> </a:t>
            </a:r>
            <a:r>
              <a:rPr sz="1100" spc="-20" dirty="0"/>
              <a:t>20</a:t>
            </a:r>
            <a:r>
              <a:rPr sz="1100" spc="-25" dirty="0"/>
              <a:t> </a:t>
            </a:r>
            <a:r>
              <a:rPr sz="1100" spc="-20" dirty="0"/>
              <a:t>nm</a:t>
            </a:r>
            <a:r>
              <a:rPr sz="1100" spc="-25" dirty="0"/>
              <a:t> </a:t>
            </a:r>
            <a:r>
              <a:rPr sz="1100" spc="-35" dirty="0"/>
              <a:t>thickness</a:t>
            </a:r>
            <a:r>
              <a:rPr sz="1100" spc="-30" dirty="0"/>
              <a:t> </a:t>
            </a:r>
            <a:r>
              <a:rPr sz="1100" spc="-40" dirty="0"/>
              <a:t>using</a:t>
            </a:r>
            <a:r>
              <a:rPr sz="1100" spc="-25" dirty="0"/>
              <a:t> </a:t>
            </a:r>
            <a:r>
              <a:rPr sz="1100" spc="-20" dirty="0"/>
              <a:t>ALD. </a:t>
            </a:r>
            <a:r>
              <a:rPr sz="1100" dirty="0"/>
              <a:t>TiN</a:t>
            </a:r>
            <a:r>
              <a:rPr sz="1100" spc="-15" dirty="0"/>
              <a:t> </a:t>
            </a:r>
            <a:r>
              <a:rPr sz="1100" dirty="0"/>
              <a:t>top</a:t>
            </a:r>
            <a:r>
              <a:rPr sz="1100" spc="-10" dirty="0"/>
              <a:t> </a:t>
            </a:r>
            <a:r>
              <a:rPr sz="1100" spc="-35" dirty="0"/>
              <a:t>and</a:t>
            </a:r>
            <a:r>
              <a:rPr sz="1100" spc="-5" dirty="0"/>
              <a:t> </a:t>
            </a:r>
            <a:r>
              <a:rPr sz="1100" spc="-10" dirty="0"/>
              <a:t>bottom </a:t>
            </a:r>
            <a:r>
              <a:rPr sz="1100" spc="-40" dirty="0"/>
              <a:t>electrodes</a:t>
            </a:r>
            <a:r>
              <a:rPr sz="1100" spc="-10" dirty="0"/>
              <a:t> </a:t>
            </a:r>
            <a:r>
              <a:rPr sz="1100" spc="-40" dirty="0"/>
              <a:t>deposited</a:t>
            </a:r>
            <a:r>
              <a:rPr sz="1100" spc="-10" dirty="0"/>
              <a:t> </a:t>
            </a:r>
            <a:r>
              <a:rPr sz="1100" spc="-40" dirty="0"/>
              <a:t>using</a:t>
            </a:r>
            <a:r>
              <a:rPr sz="1100" spc="-5" dirty="0"/>
              <a:t> </a:t>
            </a:r>
            <a:r>
              <a:rPr sz="1100" spc="60" dirty="0"/>
              <a:t>PVD</a:t>
            </a:r>
            <a:r>
              <a:rPr sz="1100" spc="-15" dirty="0"/>
              <a:t> </a:t>
            </a:r>
            <a:r>
              <a:rPr sz="1100" dirty="0"/>
              <a:t>(7</a:t>
            </a:r>
            <a:r>
              <a:rPr sz="1100" spc="-10" dirty="0"/>
              <a:t> </a:t>
            </a:r>
            <a:r>
              <a:rPr sz="1100" spc="-20" dirty="0"/>
              <a:t>nm).</a:t>
            </a:r>
            <a:endParaRPr sz="11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335"/>
              </a:spcBef>
            </a:pPr>
            <a:r>
              <a:rPr spc="-20" dirty="0"/>
              <a:t>Oxide</a:t>
            </a:r>
            <a:r>
              <a:rPr spc="-30" dirty="0"/>
              <a:t> </a:t>
            </a:r>
            <a:r>
              <a:rPr spc="-35" dirty="0"/>
              <a:t>passivation</a:t>
            </a:r>
            <a:r>
              <a:rPr spc="-30" dirty="0"/>
              <a:t> </a:t>
            </a:r>
            <a:r>
              <a:rPr spc="-55" dirty="0"/>
              <a:t>added</a:t>
            </a:r>
            <a:r>
              <a:rPr spc="-30" dirty="0"/>
              <a:t> </a:t>
            </a:r>
            <a:r>
              <a:rPr spc="-20" dirty="0"/>
              <a:t>for</a:t>
            </a:r>
            <a:r>
              <a:rPr spc="-30" dirty="0"/>
              <a:t> structure </a:t>
            </a:r>
            <a:r>
              <a:rPr spc="-10" dirty="0"/>
              <a:t>isolation.</a:t>
            </a:r>
          </a:p>
          <a:p>
            <a:pPr marL="38100">
              <a:lnSpc>
                <a:spcPct val="100000"/>
              </a:lnSpc>
              <a:spcBef>
                <a:spcPts val="334"/>
              </a:spcBef>
            </a:pPr>
            <a:r>
              <a:rPr spc="-20" dirty="0"/>
              <a:t>Structure</a:t>
            </a:r>
            <a:r>
              <a:rPr spc="-35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spc="-35" dirty="0"/>
              <a:t>symmetrical and</a:t>
            </a:r>
            <a:r>
              <a:rPr spc="-30" dirty="0"/>
              <a:t> </a:t>
            </a:r>
            <a:r>
              <a:rPr spc="-25" dirty="0"/>
              <a:t>suitable</a:t>
            </a:r>
            <a:r>
              <a:rPr spc="-35" dirty="0"/>
              <a:t> </a:t>
            </a:r>
            <a:r>
              <a:rPr spc="-20" dirty="0"/>
              <a:t>for</a:t>
            </a:r>
            <a:r>
              <a:rPr spc="-30" dirty="0"/>
              <a:t> </a:t>
            </a:r>
            <a:r>
              <a:rPr spc="-25" dirty="0"/>
              <a:t>future</a:t>
            </a:r>
            <a:r>
              <a:rPr spc="-35" dirty="0"/>
              <a:t> </a:t>
            </a:r>
            <a:r>
              <a:rPr spc="-25" dirty="0"/>
              <a:t>electrical</a:t>
            </a:r>
            <a:r>
              <a:rPr spc="-30" dirty="0"/>
              <a:t> </a:t>
            </a:r>
            <a:r>
              <a:rPr spc="-10" dirty="0"/>
              <a:t>testing.</a:t>
            </a: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623415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833448"/>
            <a:ext cx="65265" cy="6526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043480"/>
            <a:ext cx="65265" cy="65265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3" name="object 13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523677" y="3364484"/>
            <a:ext cx="111760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spc="-55" dirty="0">
                <a:solidFill>
                  <a:srgbClr val="FFFFFF"/>
                </a:solidFill>
                <a:latin typeface="Arial MT"/>
                <a:cs typeface="Arial MT"/>
              </a:rPr>
              <a:t>sha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K</a:t>
            </a:r>
            <a:r>
              <a:rPr spc="80" dirty="0"/>
              <a:t> </a:t>
            </a:r>
            <a:r>
              <a:rPr spc="-10" dirty="0"/>
              <a:t>Mohammed</a:t>
            </a:r>
            <a:r>
              <a:rPr spc="85" dirty="0"/>
              <a:t> </a:t>
            </a:r>
            <a:r>
              <a:rPr spc="-25" dirty="0"/>
              <a:t>Hamza-</a:t>
            </a:r>
            <a:r>
              <a:rPr spc="-20" dirty="0"/>
              <a:t>RA2211004010570,</a:t>
            </a:r>
            <a:r>
              <a:rPr spc="85" dirty="0"/>
              <a:t> </a:t>
            </a:r>
            <a:r>
              <a:rPr spc="-25" dirty="0"/>
              <a:t>Di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972665" y="3351784"/>
            <a:ext cx="656590" cy="114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RRAM</a:t>
            </a:r>
            <a:r>
              <a:rPr sz="600" spc="35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using</a:t>
            </a:r>
            <a:r>
              <a:rPr sz="600" spc="35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HfO</a:t>
            </a:r>
            <a:r>
              <a:rPr sz="750" spc="-30" baseline="-11111" dirty="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2</a:t>
            </a:r>
            <a:endParaRPr sz="750" baseline="-11111">
              <a:latin typeface="Arial MT"/>
              <a:cs typeface="Arial MT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May</a:t>
            </a:r>
            <a:r>
              <a:rPr spc="30" dirty="0"/>
              <a:t> </a:t>
            </a:r>
            <a:r>
              <a:rPr dirty="0"/>
              <a:t>7,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12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61426" y="792"/>
            <a:ext cx="3879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Conclusion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4608195" cy="490220"/>
            <a:chOff x="0" y="0"/>
            <a:chExt cx="4608195" cy="490220"/>
          </a:xfrm>
        </p:grpSpPr>
        <p:sp>
          <p:nvSpPr>
            <p:cNvPr id="4" name="object 4"/>
            <p:cNvSpPr/>
            <p:nvPr/>
          </p:nvSpPr>
          <p:spPr>
            <a:xfrm>
              <a:off x="2303995" y="0"/>
              <a:ext cx="2304415" cy="140335"/>
            </a:xfrm>
            <a:custGeom>
              <a:avLst/>
              <a:gdLst/>
              <a:ahLst/>
              <a:cxnLst/>
              <a:rect l="l" t="t" r="r" b="b"/>
              <a:pathLst>
                <a:path w="2304415" h="140335">
                  <a:moveTo>
                    <a:pt x="2303995" y="0"/>
                  </a:moveTo>
                  <a:lnTo>
                    <a:pt x="0" y="0"/>
                  </a:lnTo>
                  <a:lnTo>
                    <a:pt x="0" y="140017"/>
                  </a:lnTo>
                  <a:lnTo>
                    <a:pt x="2303995" y="140017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40017"/>
              <a:ext cx="4608195" cy="350520"/>
            </a:xfrm>
            <a:custGeom>
              <a:avLst/>
              <a:gdLst/>
              <a:ahLst/>
              <a:cxnLst/>
              <a:rect l="l" t="t" r="r" b="b"/>
              <a:pathLst>
                <a:path w="4608195" h="350520">
                  <a:moveTo>
                    <a:pt x="4608004" y="0"/>
                  </a:moveTo>
                  <a:lnTo>
                    <a:pt x="0" y="0"/>
                  </a:lnTo>
                  <a:lnTo>
                    <a:pt x="0" y="350126"/>
                  </a:lnTo>
                  <a:lnTo>
                    <a:pt x="4608004" y="35012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Conclusion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497393"/>
            <a:ext cx="65265" cy="6526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2932" y="1370175"/>
            <a:ext cx="4057015" cy="655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59410">
              <a:lnSpc>
                <a:spcPct val="125299"/>
              </a:lnSpc>
              <a:spcBef>
                <a:spcPts val="100"/>
              </a:spcBef>
            </a:pPr>
            <a:r>
              <a:rPr sz="1100" spc="-40" dirty="0">
                <a:latin typeface="Tahoma"/>
                <a:cs typeface="Tahoma"/>
              </a:rPr>
              <a:t>Successfully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modeled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fabrication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RRAM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using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SEMulator3D. </a:t>
            </a:r>
            <a:r>
              <a:rPr sz="1100" spc="-25" dirty="0">
                <a:latin typeface="Tahoma"/>
                <a:cs typeface="Tahoma"/>
              </a:rPr>
              <a:t>Simulated </a:t>
            </a:r>
            <a:r>
              <a:rPr sz="1100" spc="-30" dirty="0">
                <a:latin typeface="Tahoma"/>
                <a:cs typeface="Tahoma"/>
              </a:rPr>
              <a:t>structure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supports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CMOS-</a:t>
            </a:r>
            <a:r>
              <a:rPr sz="1100" spc="-10" dirty="0">
                <a:latin typeface="Tahoma"/>
                <a:cs typeface="Tahoma"/>
              </a:rPr>
              <a:t>compatible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design.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30" dirty="0">
                <a:latin typeface="Tahoma"/>
                <a:cs typeface="Tahoma"/>
              </a:rPr>
              <a:t>Foundation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laid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further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electrical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simulation</a:t>
            </a:r>
            <a:r>
              <a:rPr sz="1100" spc="-35" dirty="0">
                <a:latin typeface="Tahoma"/>
                <a:cs typeface="Tahoma"/>
              </a:rPr>
              <a:t> 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reliability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testing.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707426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917458"/>
            <a:ext cx="65265" cy="65265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523677" y="3364484"/>
            <a:ext cx="111760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spc="-55" dirty="0">
                <a:solidFill>
                  <a:srgbClr val="FFFFFF"/>
                </a:solidFill>
                <a:latin typeface="Arial MT"/>
                <a:cs typeface="Arial MT"/>
              </a:rPr>
              <a:t>sha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K</a:t>
            </a:r>
            <a:r>
              <a:rPr spc="80" dirty="0"/>
              <a:t> </a:t>
            </a:r>
            <a:r>
              <a:rPr spc="-10" dirty="0"/>
              <a:t>Mohammed</a:t>
            </a:r>
            <a:r>
              <a:rPr spc="85" dirty="0"/>
              <a:t> </a:t>
            </a:r>
            <a:r>
              <a:rPr spc="-25" dirty="0"/>
              <a:t>Hamza-</a:t>
            </a:r>
            <a:r>
              <a:rPr spc="-20" dirty="0"/>
              <a:t>RA2211004010570,</a:t>
            </a:r>
            <a:r>
              <a:rPr spc="85" dirty="0"/>
              <a:t> </a:t>
            </a:r>
            <a:r>
              <a:rPr spc="-25" dirty="0"/>
              <a:t>Di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972665" y="3351784"/>
            <a:ext cx="656590" cy="114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RRAM</a:t>
            </a:r>
            <a:r>
              <a:rPr sz="600" spc="3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using</a:t>
            </a:r>
            <a:r>
              <a:rPr sz="600" spc="35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HfO</a:t>
            </a:r>
            <a:r>
              <a:rPr sz="750" spc="-30" baseline="-11111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2</a:t>
            </a:r>
            <a:endParaRPr sz="750" baseline="-11111">
              <a:latin typeface="Arial MT"/>
              <a:cs typeface="Arial MT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May</a:t>
            </a:r>
            <a:r>
              <a:rPr spc="30" dirty="0"/>
              <a:t> </a:t>
            </a:r>
            <a:r>
              <a:rPr dirty="0"/>
              <a:t>7,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13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61426" y="792"/>
            <a:ext cx="3879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Conclusion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40335"/>
          </a:xfrm>
          <a:custGeom>
            <a:avLst/>
            <a:gdLst/>
            <a:ahLst/>
            <a:cxnLst/>
            <a:rect l="l" t="t" r="r" b="b"/>
            <a:pathLst>
              <a:path w="2304415" h="140335">
                <a:moveTo>
                  <a:pt x="2303995" y="0"/>
                </a:moveTo>
                <a:lnTo>
                  <a:pt x="0" y="0"/>
                </a:lnTo>
                <a:lnTo>
                  <a:pt x="0" y="140017"/>
                </a:lnTo>
                <a:lnTo>
                  <a:pt x="2303995" y="140017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62480" y="1224113"/>
            <a:ext cx="1483360" cy="548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ts val="2790"/>
              </a:lnSpc>
              <a:spcBef>
                <a:spcPts val="125"/>
              </a:spcBef>
            </a:pPr>
            <a:r>
              <a:rPr sz="2450" spc="-70" dirty="0">
                <a:solidFill>
                  <a:srgbClr val="000000"/>
                </a:solidFill>
              </a:rPr>
              <a:t>Thank</a:t>
            </a:r>
            <a:r>
              <a:rPr sz="2450" spc="-110" dirty="0">
                <a:solidFill>
                  <a:srgbClr val="000000"/>
                </a:solidFill>
              </a:rPr>
              <a:t> </a:t>
            </a:r>
            <a:r>
              <a:rPr sz="2450" spc="-70" dirty="0">
                <a:solidFill>
                  <a:srgbClr val="000000"/>
                </a:solidFill>
              </a:rPr>
              <a:t>You!</a:t>
            </a:r>
            <a:endParaRPr sz="2450"/>
          </a:p>
          <a:p>
            <a:pPr algn="ctr">
              <a:lnSpc>
                <a:spcPts val="1290"/>
              </a:lnSpc>
            </a:pPr>
            <a:r>
              <a:rPr sz="1200" spc="-10" dirty="0">
                <a:solidFill>
                  <a:srgbClr val="000000"/>
                </a:solidFill>
              </a:rPr>
              <a:t>Questions?</a:t>
            </a:r>
            <a:endParaRPr sz="1200"/>
          </a:p>
        </p:txBody>
      </p:sp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523677" y="3364484"/>
            <a:ext cx="111760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spc="-55" dirty="0">
                <a:solidFill>
                  <a:srgbClr val="FFFFFF"/>
                </a:solidFill>
                <a:latin typeface="Arial MT"/>
                <a:cs typeface="Arial MT"/>
              </a:rPr>
              <a:t>sha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K</a:t>
            </a:r>
            <a:r>
              <a:rPr spc="80" dirty="0"/>
              <a:t> </a:t>
            </a:r>
            <a:r>
              <a:rPr spc="-10" dirty="0"/>
              <a:t>Mohammed</a:t>
            </a:r>
            <a:r>
              <a:rPr spc="85" dirty="0"/>
              <a:t> </a:t>
            </a:r>
            <a:r>
              <a:rPr spc="-25" dirty="0"/>
              <a:t>Hamza-</a:t>
            </a:r>
            <a:r>
              <a:rPr spc="-20" dirty="0"/>
              <a:t>RA2211004010570,</a:t>
            </a:r>
            <a:r>
              <a:rPr spc="85" dirty="0"/>
              <a:t> </a:t>
            </a:r>
            <a:r>
              <a:rPr spc="-25" dirty="0"/>
              <a:t>Di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972665" y="3351784"/>
            <a:ext cx="656590" cy="114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RRAM</a:t>
            </a:r>
            <a:r>
              <a:rPr sz="600" spc="35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using</a:t>
            </a:r>
            <a:r>
              <a:rPr sz="600" spc="35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HfO</a:t>
            </a:r>
            <a:r>
              <a:rPr sz="750" spc="-30" baseline="-11111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2</a:t>
            </a:r>
            <a:endParaRPr sz="750" baseline="-11111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May</a:t>
            </a:r>
            <a:r>
              <a:rPr spc="30" dirty="0"/>
              <a:t> </a:t>
            </a:r>
            <a:r>
              <a:rPr dirty="0"/>
              <a:t>7,</a:t>
            </a:r>
            <a:r>
              <a:rPr spc="35" dirty="0"/>
              <a:t> </a:t>
            </a:r>
            <a:r>
              <a:rPr spc="-20" dirty="0"/>
              <a:t>2025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14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696</Words>
  <Application>Microsoft Office PowerPoint</Application>
  <PresentationFormat>Custom</PresentationFormat>
  <Paragraphs>167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Arial MT</vt:lpstr>
      <vt:lpstr>Tahoma</vt:lpstr>
      <vt:lpstr>Office Theme</vt:lpstr>
      <vt:lpstr>Fabrication and Simulation of RRAM using HfO2 as Switching Layer 21IPE337P Semiconductor Process Integration</vt:lpstr>
      <vt:lpstr>Outline</vt:lpstr>
      <vt:lpstr>What is RRAM?</vt:lpstr>
      <vt:lpstr>Objective of the Project</vt:lpstr>
      <vt:lpstr>Enhanced RRAM Fabrication and Simulation Flow</vt:lpstr>
      <vt:lpstr>Design Specifics of the Project</vt:lpstr>
      <vt:lpstr>Process Steps Overview</vt:lpstr>
      <vt:lpstr>Layer and Mask Layout</vt:lpstr>
      <vt:lpstr>PowerPoint Presentation</vt:lpstr>
      <vt:lpstr>PowerPoint Presentation</vt:lpstr>
      <vt:lpstr>PowerPoint Presentation</vt:lpstr>
      <vt:lpstr>Key Observations</vt:lpstr>
      <vt:lpstr>Conclusion</vt:lpstr>
      <vt:lpstr>Thank You!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Fabrication and Simulation of RRAM using HfO2 as Switching Layer - 21IPE337P Semiconductor Process Integration</dc:title>
  <dc:creator>K Mohammed Hamza-RA2211004010570, Disha Rautela-RA2211004010550</dc:creator>
  <cp:lastModifiedBy>Hamza .</cp:lastModifiedBy>
  <cp:revision>1</cp:revision>
  <dcterms:created xsi:type="dcterms:W3CDTF">2025-05-07T06:02:04Z</dcterms:created>
  <dcterms:modified xsi:type="dcterms:W3CDTF">2025-05-07T07:38:10Z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2025-05-07T00:00:00Z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2025-05-07T00:00:00Z</vt:filetime>
  </property>
  <property fmtid="{D5CDD505-2E9C-101B-9397-08002B2CF9AE}" pid="5" name="PTEX.Fullbanner">
    <vt:lpwstr>This is pdfTeX, Version 3.141592653-2.6-1.40.26 (TeX Live 2024) kpathsea version 6.4.0</vt:lpwstr>
  </property>
  <property fmtid="{D5CDD505-2E9C-101B-9397-08002B2CF9AE}" pid="6" name="Producer">
    <vt:lpwstr>pdfTeX-1.40.26</vt:lpwstr>
  </property>
</Properties>
</file>